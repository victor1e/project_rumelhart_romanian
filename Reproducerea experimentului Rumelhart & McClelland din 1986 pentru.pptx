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322" r:id="rId5"/>
    <p:sldId id="324" r:id="rId6"/>
    <p:sldId id="323" r:id="rId7"/>
    <p:sldId id="325" r:id="rId8"/>
    <p:sldId id="326" r:id="rId9"/>
    <p:sldId id="327" r:id="rId10"/>
    <p:sldId id="328" r:id="rId11"/>
    <p:sldId id="329" r:id="rId12"/>
    <p:sldId id="345" r:id="rId13"/>
    <p:sldId id="331" r:id="rId14"/>
    <p:sldId id="344" r:id="rId15"/>
    <p:sldId id="332" r:id="rId16"/>
    <p:sldId id="333" r:id="rId17"/>
    <p:sldId id="334" r:id="rId18"/>
    <p:sldId id="335" r:id="rId19"/>
    <p:sldId id="336" r:id="rId20"/>
    <p:sldId id="337" r:id="rId21"/>
    <p:sldId id="338" r:id="rId22"/>
    <p:sldId id="339" r:id="rId23"/>
    <p:sldId id="340" r:id="rId24"/>
    <p:sldId id="34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5B8BF"/>
    <a:srgbClr val="586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14" autoAdjust="0"/>
    <p:restoredTop sz="86434" autoAdjust="0"/>
  </p:normalViewPr>
  <p:slideViewPr>
    <p:cSldViewPr snapToGrid="0">
      <p:cViewPr varScale="1">
        <p:scale>
          <a:sx n="55" d="100"/>
          <a:sy n="55" d="100"/>
        </p:scale>
        <p:origin x="812" y="60"/>
      </p:cViewPr>
      <p:guideLst/>
    </p:cSldViewPr>
  </p:slideViewPr>
  <p:outlineViewPr>
    <p:cViewPr>
      <p:scale>
        <a:sx n="33" d="100"/>
        <a:sy n="33" d="100"/>
      </p:scale>
      <p:origin x="0" y="-1148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1A50702-3C68-4B14-B819-72B57D27F9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0F4880-E690-44D0-8356-A9E7BDBAB0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E6205E-B305-4B90-9534-3C5E99A0275E}" type="datetimeFigureOut">
              <a:rPr lang="en-US" smtClean="0"/>
              <a:t>1/18/2026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B4ACF6-39FD-4B08-A7D5-5BFDC37B46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7C9FD2-2C57-4DE7-8EA4-86DEE80B988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AC623C-86E0-4A85-83FB-F4A716956F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39555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3722F1-E430-42A1-A473-1759336AECCE}" type="datetimeFigureOut">
              <a:rPr lang="en-US" smtClean="0"/>
              <a:t>1/17/2026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7D7554-D10C-4E29-B8E6-BB7111FA614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347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7D7554-D10C-4E29-B8E6-BB7111FA614F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5054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5" y="690511"/>
            <a:ext cx="5185821" cy="5253089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784555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55583" y="737115"/>
            <a:ext cx="4640418" cy="5407091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388461" y="737115"/>
            <a:ext cx="4449712" cy="5407091"/>
          </a:xfrm>
        </p:spPr>
        <p:txBody>
          <a:bodyPr lIns="0" tIns="0" rIns="0" bIns="0" anchor="ctr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E9F5D75-1D8F-F695-81F8-4A6D0C6782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7245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1278294"/>
            <a:ext cx="5000318" cy="490414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42169" y="-1"/>
            <a:ext cx="4635426" cy="685799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9029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6B956C-A124-5A7C-EBD4-CBB618B9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53827" y="3508311"/>
            <a:ext cx="9923770" cy="1438762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B92702B-E14C-886C-445A-349265F3759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15600" y="0"/>
            <a:ext cx="10361995" cy="342900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C76C37-CBD2-36CF-1413-53DD1CB4A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D1AAD-E663-5B8E-CE72-64C1DBF19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250190-89C1-EAA3-6C2A-15A60C6754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D179113D-0374-3934-841E-56AD5AFCF9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53828" y="5228488"/>
            <a:ext cx="9923770" cy="136825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227224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5" y="503852"/>
            <a:ext cx="9150675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50153" y="2108722"/>
            <a:ext cx="8552264" cy="4119463"/>
          </a:xfrm>
        </p:spPr>
        <p:txBody>
          <a:bodyPr lIns="0" tIns="0" rIns="0" bIns="0"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1430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6002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0574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5FE61D9-DA99-9DA5-5DD2-C4118066CA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E64603E-965E-E3BF-203B-F4D9942820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DABAFC1-3E76-DCE6-3A6D-E0020C5BE8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96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07175C5-CB2F-2BAC-3704-54DCD1BF04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031" y="1068169"/>
            <a:ext cx="10115939" cy="2681549"/>
          </a:xfrm>
        </p:spPr>
        <p:txBody>
          <a:bodyPr anchor="b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1905E-33E7-852F-94E3-8E100B3D1E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4400" y="914400"/>
            <a:ext cx="10363200" cy="50292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7799F7-CBB1-9649-7D06-F7EEFD4F0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AFC5CA-DB29-4B8C-C004-72E4EC761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E3CB2D2A-7172-87CE-D493-DAF52D62EB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38031" y="4027047"/>
            <a:ext cx="10115939" cy="176278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00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069536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Content Placeholder 7">
            <a:extLst>
              <a:ext uri="{FF2B5EF4-FFF2-40B4-BE49-F238E27FC236}">
                <a16:creationId xmlns:a16="http://schemas.microsoft.com/office/drawing/2014/main" id="{AEA3C42D-C3E7-4F13-63E2-96D7A3B211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4" y="2057401"/>
            <a:ext cx="4627186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68185" y="2057401"/>
            <a:ext cx="4609399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D40DF0B-6602-19D4-3110-4659C28780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720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3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C355854D-70C0-E6E1-2A0C-284D00A21AE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468815" y="2057401"/>
            <a:ext cx="3068678" cy="4119463"/>
          </a:xfrm>
        </p:spPr>
        <p:txBody>
          <a:bodyPr lIns="0"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457200" indent="-32004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9144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371600" indent="-320040">
              <a:spcBef>
                <a:spcPts val="100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1828800" indent="-320040">
              <a:spcBef>
                <a:spcPts val="100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191727" y="2057401"/>
            <a:ext cx="6085857" cy="4119463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6858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1430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1600200" indent="-2286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7B331F9-6D4A-5020-969F-E961AF374E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4237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icture and Content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357912CB-B8F8-1E65-094F-AD3220E6C79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03363" y="2061969"/>
            <a:ext cx="4592637" cy="4805362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87262" y="2052736"/>
            <a:ext cx="4490320" cy="480059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7145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171700" indent="-342900"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809D86D-3DDE-CA24-4CAA-DF6944B9BCB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6107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617CE1C3-9892-2E23-986F-80ABB41823D6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68814" y="2057400"/>
            <a:ext cx="3091027" cy="386753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3pPr>
            <a:lvl4pPr marL="17145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4pPr>
            <a:lvl5pPr marL="2171700" indent="-3429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able Placeholder 13">
            <a:extLst>
              <a:ext uri="{FF2B5EF4-FFF2-40B4-BE49-F238E27FC236}">
                <a16:creationId xmlns:a16="http://schemas.microsoft.com/office/drawing/2014/main" id="{EA708189-1532-1BDD-104F-4D8556146CEE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5097463" y="2051976"/>
            <a:ext cx="6180137" cy="3867538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E0EC71B-95A1-C740-6B1F-F8DF02E2D16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9299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 2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0AB10A-3CAB-D4C0-3CB1-401461802B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468814" y="2066731"/>
            <a:ext cx="6452876" cy="3867538"/>
          </a:xfrm>
        </p:spPr>
        <p:txBody>
          <a:bodyPr lIns="0">
            <a:normAutofit/>
          </a:bodyPr>
          <a:lstStyle>
            <a:lvl1pPr>
              <a:lnSpc>
                <a:spcPct val="100000"/>
              </a:lnSpc>
              <a:spcAft>
                <a:spcPts val="600"/>
              </a:spcAft>
              <a:defRPr sz="2000"/>
            </a:lvl1pPr>
            <a:lvl2pPr>
              <a:lnSpc>
                <a:spcPct val="100000"/>
              </a:lnSpc>
              <a:spcAft>
                <a:spcPts val="600"/>
              </a:spcAft>
              <a:defRPr sz="2000"/>
            </a:lvl2pPr>
            <a:lvl3pPr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defRPr sz="20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7DBA8ADB-B20F-8404-46AB-AF67E25C7C7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169196" y="2066731"/>
            <a:ext cx="3108391" cy="3867538"/>
          </a:xfrm>
        </p:spPr>
        <p:txBody>
          <a:bodyPr lIns="0">
            <a:normAutofit/>
          </a:bodyPr>
          <a:lstStyle>
            <a:lvl1pPr marL="0" indent="0">
              <a:lnSpc>
                <a:spcPct val="100000"/>
              </a:lnSpc>
              <a:spcAft>
                <a:spcPts val="600"/>
              </a:spcAft>
              <a:buNone/>
              <a:defRPr sz="2000"/>
            </a:lvl1pPr>
            <a:lvl2pPr marL="800100" indent="-342900">
              <a:lnSpc>
                <a:spcPct val="10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2pPr>
            <a:lvl3pPr marL="1257300" indent="-342900">
              <a:buFont typeface="Arial" panose="020B0604020202020204" pitchFamily="34" charset="0"/>
              <a:buChar char="•"/>
              <a:defRPr sz="2000"/>
            </a:lvl3pPr>
            <a:lvl4pPr marL="1714500" indent="-342900">
              <a:buFont typeface="Arial" panose="020B0604020202020204" pitchFamily="34" charset="0"/>
              <a:buChar char="•"/>
              <a:defRPr sz="2000"/>
            </a:lvl4pPr>
            <a:lvl5pPr marL="2171700" indent="-342900"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814D5F7-E70A-5F97-5C8F-95B9E1B6D49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8140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ab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4389812-0415-9025-AB21-4503F7DF3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459A5A0-86AD-344B-A0E4-6C55958151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594360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75B3424C-4925-A7F7-02CD-84526B2E22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8814" y="503852"/>
            <a:ext cx="9808773" cy="142758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CB43608F-0A38-CF4A-4B3B-F1212E786FDE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1487488" y="2057400"/>
            <a:ext cx="9790112" cy="388620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5DA3688-07D1-82D9-6818-C95E9A69C2F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412136" y="5943601"/>
            <a:ext cx="968983" cy="651912"/>
          </a:xfrm>
        </p:spPr>
        <p:txBody>
          <a:bodyPr/>
          <a:lstStyle/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13572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B5E70F-EF03-B535-2505-BC971E3BC3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94360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794424E-93DD-A404-D05E-EF6030A76D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96628" y="0"/>
            <a:ext cx="0" cy="6858000"/>
          </a:xfrm>
          <a:prstGeom prst="line">
            <a:avLst/>
          </a:prstGeom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03A3B6B-5129-A46A-A20C-5D7BC706C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77600" y="0"/>
            <a:ext cx="914400" cy="9144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24E401A1-8CEE-5E1B-343B-D737433AE6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7614" y="690511"/>
            <a:ext cx="4964671" cy="5253089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D608249-3D60-D3B2-68C5-778D0EA18F2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82286" y="690465"/>
            <a:ext cx="4784372" cy="5253089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43748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B82F216-62F1-7E0B-63FD-51C27CDAA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1F31D-B959-2AD8-9208-FF08B574D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2C8C7-5C6C-400B-AEC0-4D8178161B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105D6-7B52-4B7D-9473-BCD571A93A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0" cap="all" spc="150" baseline="0">
                <a:solidFill>
                  <a:schemeClr val="bg2">
                    <a:lumMod val="50000"/>
                  </a:schemeClr>
                </a:solidFill>
                <a:latin typeface="Univers Light" panose="020B0403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EAA0A-7090-4FA3-AD1C-CD4570404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12136" y="5943601"/>
            <a:ext cx="968983" cy="6519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spc="15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18D65601-5AE2-46FC-B138-694DDD2B510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433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3" r:id="rId2"/>
    <p:sldLayoutId id="2147483692" r:id="rId3"/>
    <p:sldLayoutId id="2147483691" r:id="rId4"/>
    <p:sldLayoutId id="2147483690" r:id="rId5"/>
    <p:sldLayoutId id="2147483689" r:id="rId6"/>
    <p:sldLayoutId id="2147483688" r:id="rId7"/>
    <p:sldLayoutId id="2147483687" r:id="rId8"/>
    <p:sldLayoutId id="2147483686" r:id="rId9"/>
    <p:sldLayoutId id="2147483685" r:id="rId10"/>
    <p:sldLayoutId id="2147483684" r:id="rId11"/>
    <p:sldLayoutId id="2147483682" r:id="rId12"/>
    <p:sldLayoutId id="214748368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4C9E-20FB-B999-9303-C71D1334B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8453706" cy="5263722"/>
          </a:xfrm>
        </p:spPr>
        <p:txBody>
          <a:bodyPr>
            <a:normAutofit/>
          </a:bodyPr>
          <a:lstStyle/>
          <a:p>
            <a:r>
              <a:rPr lang="ro-RO" sz="3600" dirty="0"/>
              <a:t>Reproducerea experimentului Rumelhart &amp; McClelland din 1986 pentru verbele din limba rom</a:t>
            </a:r>
            <a:r>
              <a:rPr lang="en-US" sz="3600" dirty="0"/>
              <a:t>a</a:t>
            </a:r>
            <a:r>
              <a:rPr lang="ro-RO" sz="3600" dirty="0"/>
              <a:t>neasc</a:t>
            </a:r>
            <a:r>
              <a:rPr lang="en-US" sz="3600" dirty="0"/>
              <a:t>a</a:t>
            </a:r>
            <a:br>
              <a:rPr lang="en-US" sz="3600" dirty="0"/>
            </a:br>
            <a:br>
              <a:rPr lang="en-US" sz="3600" dirty="0"/>
            </a:br>
            <a:br>
              <a:rPr lang="en-US" sz="3600" dirty="0"/>
            </a:br>
            <a:r>
              <a:rPr lang="en-US" sz="2000" dirty="0"/>
              <a:t>Autori: Albu Victor, Cristescu  Ciprian</a:t>
            </a:r>
            <a:br>
              <a:rPr lang="en-US" sz="2000" dirty="0"/>
            </a:br>
            <a:endParaRPr lang="ro-RO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8224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F0E87-443F-50AB-97A5-29ACFA5B8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506329" cy="5253089"/>
          </a:xfrm>
        </p:spPr>
        <p:txBody>
          <a:bodyPr/>
          <a:lstStyle/>
          <a:p>
            <a:r>
              <a:rPr lang="en-US" dirty="0"/>
              <a:t>Ce s-a facut </a:t>
            </a:r>
            <a:r>
              <a:rPr lang="en-US" dirty="0" err="1"/>
              <a:t>pana</a:t>
            </a:r>
            <a:r>
              <a:rPr lang="en-US" dirty="0"/>
              <a:t> </a:t>
            </a:r>
            <a:r>
              <a:rPr lang="en-US" dirty="0" err="1"/>
              <a:t>acum</a:t>
            </a:r>
            <a:r>
              <a:rPr lang="en-US" dirty="0"/>
              <a:t>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2937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15063-EDBD-034B-F437-266D47A0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708348" cy="5253089"/>
          </a:xfrm>
        </p:spPr>
        <p:txBody>
          <a:bodyPr>
            <a:normAutofit/>
          </a:bodyPr>
          <a:lstStyle/>
          <a:p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Titlu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"On learning the past tenses of English verbs" 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Autori: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David E. Rumelhart &amp; James L. McClelland 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1986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Despre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fost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primul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studiu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care a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demonstrat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 o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retea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neuronala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poate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invata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conjugari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trecutul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verbelor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fara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programeze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reguli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gramaticale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explicite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introdus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conceptul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"U-shaped learning" (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invatare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forma de U: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memorare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greseli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generalizare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corectare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4739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6CE525B2-1002-AD46-0961-72D121473A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317625" y="470153"/>
            <a:ext cx="10663240" cy="5693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Titlu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"On language and connectionism: Analysis of a parallel </a:t>
            </a:r>
            <a:br>
              <a:rPr kumimoji="0" lang="en-US" altLang="en-US" sz="2800" b="0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800" b="0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distributed processing model of language acquisition“</a:t>
            </a:r>
            <a:br>
              <a:rPr kumimoji="0" lang="en-US" altLang="en-US" sz="2800" b="0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Autori: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Steven Pinker &amp; Alan Prince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1988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Despre 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Ei au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criticat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dur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lui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Rumelhart. 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spus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că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rețeaua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face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greșeli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pe care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oamenii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nu le fac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și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că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intrare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("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Wickelfeatures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")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 "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ciorba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 de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litere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care nu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respecta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structura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cuvantului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en-US" altLang="en-US" sz="2800" b="0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Noi am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rezolvat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critica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lui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Pinker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folosind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LSTM-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uri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care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pastreaza</a:t>
            </a:r>
            <a:b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ordinea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literelor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spre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deosebire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800" b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vechi</a:t>
            </a:r>
            <a:r>
              <a:rPr kumimoji="0" lang="en-US" altLang="en-US" sz="2800" b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18502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A82B-A226-15C8-D84E-A3132D2B9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889101" cy="5253089"/>
          </a:xfrm>
        </p:spPr>
        <p:txBody>
          <a:bodyPr/>
          <a:lstStyle/>
          <a:p>
            <a:r>
              <a:rPr lang="en-US" dirty="0"/>
              <a:t>Ce date am </a:t>
            </a:r>
            <a:r>
              <a:rPr lang="en-US" dirty="0" err="1"/>
              <a:t>folosit</a:t>
            </a:r>
            <a:r>
              <a:rPr lang="en-US" dirty="0"/>
              <a:t>?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2729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FE1C541-8CF2-EC45-D938-59EE9F47C1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317625" y="839483"/>
            <a:ext cx="10841494" cy="49552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Problema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Lipsa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unui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set de date (dataset)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curat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și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standardizat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pentru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perechile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Infinitiv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-Trecut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în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limba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română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Solutia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Noastra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Dezvoltarea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unui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Generator de Date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Sintetice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în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Python.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date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sintetice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cuvinte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inventate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1.Pentru a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izola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capacitatea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rețelei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 a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nvata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reguli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abstracte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2.Dacă am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folosi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doar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verbe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ar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exista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riscul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ca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reteaua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memoreze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pur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și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simplu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cuvintele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3.Verbele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inventate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(ex: </a:t>
            </a:r>
            <a:r>
              <a:rPr kumimoji="0" lang="en-US" altLang="en-US" sz="2000" i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boganiza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nu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există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în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dicționar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deci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singurul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mod de a le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conjuga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prin</a:t>
            </a:r>
            <a:b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invătarea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regulii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gramaticale</a:t>
            </a:r>
            <a:r>
              <a:rPr kumimoji="0" lang="en-US" altLang="en-US" sz="200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4081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777603E-CAB1-5D67-9371-B6A4185B813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074557" y="691284"/>
            <a:ext cx="5576911" cy="1154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3200" b="1" i="0" u="sng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Total </a:t>
            </a:r>
            <a:r>
              <a:rPr kumimoji="0" lang="en-US" altLang="en-US" sz="3200" b="1" i="0" u="sng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Exemple</a:t>
            </a:r>
            <a:r>
              <a:rPr kumimoji="0" lang="en-US" altLang="en-US" sz="3200" b="1" i="0" u="sng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15.0</a:t>
            </a:r>
            <a:r>
              <a:rPr lang="en-US" altLang="en-US" sz="32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kumimoji="0" lang="en-US" altLang="en-US" sz="3200" b="1" i="0" u="sng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0 </a:t>
            </a:r>
            <a:r>
              <a:rPr kumimoji="0" lang="en-US" altLang="en-US" sz="3200" b="1" i="0" u="sng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perechi</a:t>
            </a:r>
            <a:r>
              <a:rPr kumimoji="0" lang="en-US" altLang="en-US" sz="3200" b="1" i="0" u="sng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kumimoji="0" lang="en-US" altLang="en-US" sz="28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1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771A33FA-FE0D-C155-55C9-A3B1250DF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3378" y="1630004"/>
            <a:ext cx="13238504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32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32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Verbe</a:t>
            </a: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32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Sintetice</a:t>
            </a: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(Reguli </a:t>
            </a:r>
            <a:r>
              <a:rPr kumimoji="0" lang="en-US" altLang="en-US" sz="32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Abstracte</a:t>
            </a: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1. 2.000 de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radacini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unice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generate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aleatoriu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respectand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fonotactica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limbii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romane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alt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C-V-C).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2.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Fiecare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verb are 7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forme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tinta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(1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Participiu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+ 6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persoane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la Imperfect).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3.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Diversitate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Acoperă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8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tipuri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conjugari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(de la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regulat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i="1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-a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pana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la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alternante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fonetice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alt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complexe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i="1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kumimoji="0" lang="en-US" altLang="en-US" sz="2400" i="1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ge</a:t>
            </a:r>
            <a:r>
              <a:rPr kumimoji="0" lang="en-US" altLang="en-US" sz="2400" i="1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/-</a:t>
            </a:r>
            <a:r>
              <a:rPr kumimoji="0" lang="en-US" altLang="en-US" sz="2400" i="1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4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32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Verbe</a:t>
            </a: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Reale (</a:t>
            </a:r>
            <a:r>
              <a:rPr kumimoji="0" lang="en-US" altLang="en-US" sz="32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Excepții</a:t>
            </a: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/Memorie):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30 de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verbe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neregulate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frecvente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(ex: </a:t>
            </a:r>
            <a:r>
              <a:rPr kumimoji="0" lang="en-US" altLang="en-US" sz="2400" i="1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fi, a </a:t>
            </a:r>
            <a:r>
              <a:rPr kumimoji="0" lang="en-US" altLang="en-US" sz="2400" i="1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avea</a:t>
            </a:r>
            <a:r>
              <a:rPr kumimoji="0" lang="en-US" altLang="en-US" sz="2400" i="1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a </a:t>
            </a:r>
            <a:r>
              <a:rPr kumimoji="0" lang="en-US" altLang="en-US" sz="2400" i="1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vrea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multiplicate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în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setul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antrenament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pentru a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forta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reteaua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să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le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memoreze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ca </a:t>
            </a: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exceptii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207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E3222-F640-C26F-8798-FCC856863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782776" cy="5253089"/>
          </a:xfrm>
        </p:spPr>
        <p:txBody>
          <a:bodyPr>
            <a:normAutofit fontScale="90000"/>
          </a:bodyPr>
          <a:lstStyle/>
          <a:p>
            <a:r>
              <a:rPr lang="en-US" dirty="0"/>
              <a:t>Cum le-am </a:t>
            </a:r>
            <a:r>
              <a:rPr lang="en-US" dirty="0" err="1"/>
              <a:t>procesat</a:t>
            </a:r>
            <a:r>
              <a:rPr lang="en-US" dirty="0"/>
              <a:t>?</a:t>
            </a:r>
            <a:br>
              <a:rPr lang="en-US" dirty="0"/>
            </a:br>
            <a:br>
              <a:rPr lang="en-US" dirty="0"/>
            </a:b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Fiecare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cuvant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reprezentat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o lista de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numere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deoarece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fiecare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indexata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Lungimea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unei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astfel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liste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 de 20. Daca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cuvantul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mic se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completa lista cu 0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pana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elmentul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20.</a:t>
            </a:r>
            <a:br>
              <a:rPr lang="en-US" dirty="0"/>
            </a:br>
            <a:br>
              <a:rPr lang="en-US" dirty="0"/>
            </a:br>
            <a:r>
              <a:rPr lang="en-US" sz="3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Exemplu</a:t>
            </a:r>
            <a:r>
              <a:rPr lang="en-US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[‘m’, ‘a’, ‘n’, ‘c’, ‘a’] -&gt; [14,  2, 15, 4, 2, 0, 0, …0]</a:t>
            </a:r>
          </a:p>
        </p:txBody>
      </p:sp>
    </p:spTree>
    <p:extLst>
      <p:ext uri="{BB962C8B-B14F-4D97-AF65-F5344CB8AC3E}">
        <p14:creationId xmlns:p14="http://schemas.microsoft.com/office/powerpoint/2010/main" val="843333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E9FE120-98F2-E1AF-66E0-DC029F3DE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033" y="68263"/>
            <a:ext cx="9820472" cy="67214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088172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5F1BB-5215-54D8-102D-1B0F2FE65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5583" y="737115"/>
            <a:ext cx="9436194" cy="5407091"/>
          </a:xfrm>
        </p:spPr>
        <p:txBody>
          <a:bodyPr>
            <a:normAutofit fontScale="90000"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 err="1"/>
              <a:t>Algoritmul</a:t>
            </a:r>
            <a:r>
              <a:rPr lang="en-US" dirty="0"/>
              <a:t> de </a:t>
            </a:r>
            <a:r>
              <a:rPr lang="en-US" dirty="0" err="1"/>
              <a:t>Generare</a:t>
            </a:r>
            <a:r>
              <a:rPr lang="en-US" dirty="0"/>
              <a:t> Dataset</a:t>
            </a:r>
            <a:br>
              <a:rPr lang="en-US" dirty="0"/>
            </a:br>
            <a:br>
              <a:rPr lang="en-US" sz="2400" dirty="0"/>
            </a:br>
            <a:r>
              <a:rPr lang="en-US" dirty="0" err="1"/>
              <a:t>Structura</a:t>
            </a:r>
            <a:r>
              <a:rPr lang="en-US" dirty="0"/>
              <a:t>:</a:t>
            </a:r>
            <a:br>
              <a:rPr lang="en-US" dirty="0"/>
            </a:br>
            <a:br>
              <a:rPr lang="en-US" sz="2800" dirty="0"/>
            </a:br>
            <a:r>
              <a:rPr lang="en-US" altLang="en-US" sz="2200" dirty="0">
                <a:latin typeface="Arial" panose="020B0604020202020204" pitchFamily="34" charset="0"/>
              </a:rPr>
              <a:t>Am </a:t>
            </a:r>
            <a:r>
              <a:rPr lang="en-US" altLang="en-US" sz="2200" dirty="0" err="1">
                <a:latin typeface="Arial" panose="020B0604020202020204" pitchFamily="34" charset="0"/>
              </a:rPr>
              <a:t>implementat</a:t>
            </a:r>
            <a:r>
              <a:rPr lang="en-US" altLang="en-US" sz="2200" dirty="0">
                <a:latin typeface="Arial" panose="020B0604020202020204" pitchFamily="34" charset="0"/>
              </a:rPr>
              <a:t> un </a:t>
            </a:r>
            <a:r>
              <a:rPr lang="en-US" altLang="en-US" sz="2200" dirty="0" err="1">
                <a:latin typeface="Arial" panose="020B0604020202020204" pitchFamily="34" charset="0"/>
              </a:rPr>
              <a:t>algoritm</a:t>
            </a:r>
            <a:r>
              <a:rPr lang="en-US" altLang="en-US" sz="2200" dirty="0">
                <a:latin typeface="Arial" panose="020B0604020202020204" pitchFamily="34" charset="0"/>
              </a:rPr>
              <a:t> care </a:t>
            </a:r>
            <a:r>
              <a:rPr lang="en-US" altLang="en-US" sz="2200" dirty="0" err="1">
                <a:latin typeface="Arial" panose="020B0604020202020204" pitchFamily="34" charset="0"/>
              </a:rPr>
              <a:t>respectă</a:t>
            </a:r>
            <a:r>
              <a:rPr lang="en-US" altLang="en-US" sz="2200" dirty="0">
                <a:latin typeface="Arial" panose="020B0604020202020204" pitchFamily="34" charset="0"/>
              </a:rPr>
              <a:t> </a:t>
            </a:r>
            <a:r>
              <a:rPr lang="en-US" altLang="en-US" sz="2200" dirty="0" err="1">
                <a:latin typeface="Arial" panose="020B0604020202020204" pitchFamily="34" charset="0"/>
              </a:rPr>
              <a:t>structura</a:t>
            </a:r>
            <a:r>
              <a:rPr lang="en-US" altLang="en-US" sz="2200" dirty="0">
                <a:latin typeface="Arial" panose="020B0604020202020204" pitchFamily="34" charset="0"/>
              </a:rPr>
              <a:t> </a:t>
            </a:r>
            <a:r>
              <a:rPr lang="en-US" altLang="en-US" sz="2200" dirty="0" err="1">
                <a:latin typeface="Arial" panose="020B0604020202020204" pitchFamily="34" charset="0"/>
              </a:rPr>
              <a:t>silabică</a:t>
            </a:r>
            <a:r>
              <a:rPr lang="en-US" altLang="en-US" sz="2200" dirty="0">
                <a:latin typeface="Arial" panose="020B0604020202020204" pitchFamily="34" charset="0"/>
              </a:rPr>
              <a:t> a </a:t>
            </a:r>
            <a:r>
              <a:rPr lang="en-US" altLang="en-US" sz="2200" dirty="0" err="1">
                <a:latin typeface="Arial" panose="020B0604020202020204" pitchFamily="34" charset="0"/>
              </a:rPr>
              <a:t>limbii</a:t>
            </a:r>
            <a:r>
              <a:rPr lang="en-US" altLang="en-US" sz="2200" dirty="0">
                <a:latin typeface="Arial" panose="020B0604020202020204" pitchFamily="34" charset="0"/>
              </a:rPr>
              <a:t> </a:t>
            </a:r>
            <a:r>
              <a:rPr lang="en-US" altLang="en-US" sz="2200" dirty="0" err="1">
                <a:latin typeface="Arial" panose="020B0604020202020204" pitchFamily="34" charset="0"/>
              </a:rPr>
              <a:t>române</a:t>
            </a:r>
            <a:r>
              <a:rPr lang="en-US" altLang="en-US" sz="2200" dirty="0">
                <a:latin typeface="Arial" panose="020B0604020202020204" pitchFamily="34" charset="0"/>
              </a:rPr>
              <a:t>: </a:t>
            </a:r>
            <a:r>
              <a:rPr lang="en-US" altLang="en-US" sz="2200" b="1" dirty="0">
                <a:latin typeface="Arial" panose="020B0604020202020204" pitchFamily="34" charset="0"/>
              </a:rPr>
              <a:t>C-V</a:t>
            </a:r>
            <a:r>
              <a:rPr lang="en-US" altLang="en-US" sz="2200" dirty="0">
                <a:latin typeface="Arial" panose="020B0604020202020204" pitchFamily="34" charset="0"/>
              </a:rPr>
              <a:t> (</a:t>
            </a:r>
            <a:r>
              <a:rPr lang="en-US" altLang="en-US" sz="2200" dirty="0" err="1">
                <a:latin typeface="Arial" panose="020B0604020202020204" pitchFamily="34" charset="0"/>
              </a:rPr>
              <a:t>Consoană-Vocală</a:t>
            </a:r>
            <a:r>
              <a:rPr lang="en-US" altLang="en-US" sz="2200" dirty="0">
                <a:latin typeface="Arial" panose="020B0604020202020204" pitchFamily="34" charset="0"/>
              </a:rPr>
              <a:t>) </a:t>
            </a:r>
            <a:r>
              <a:rPr lang="en-US" altLang="en-US" sz="2200" dirty="0" err="1">
                <a:latin typeface="Arial" panose="020B0604020202020204" pitchFamily="34" charset="0"/>
              </a:rPr>
              <a:t>sau</a:t>
            </a:r>
            <a:r>
              <a:rPr lang="en-US" altLang="en-US" sz="2200" dirty="0">
                <a:latin typeface="Arial" panose="020B0604020202020204" pitchFamily="34" charset="0"/>
              </a:rPr>
              <a:t> </a:t>
            </a:r>
            <a:r>
              <a:rPr lang="en-US" altLang="en-US" sz="2200" b="1" dirty="0">
                <a:latin typeface="Arial" panose="020B0604020202020204" pitchFamily="34" charset="0"/>
              </a:rPr>
              <a:t>C-C-V</a:t>
            </a:r>
            <a:r>
              <a:rPr lang="en-US" altLang="en-US" sz="2200" dirty="0">
                <a:latin typeface="Arial" panose="020B0604020202020204" pitchFamily="34" charset="0"/>
              </a:rPr>
              <a:t> (pentru </a:t>
            </a:r>
            <a:r>
              <a:rPr lang="en-US" altLang="en-US" sz="2200" dirty="0" err="1">
                <a:latin typeface="Arial" panose="020B0604020202020204" pitchFamily="34" charset="0"/>
              </a:rPr>
              <a:t>grupuri</a:t>
            </a:r>
            <a:r>
              <a:rPr lang="en-US" altLang="en-US" sz="2200" dirty="0">
                <a:latin typeface="Arial" panose="020B0604020202020204" pitchFamily="34" charset="0"/>
              </a:rPr>
              <a:t> precum </a:t>
            </a:r>
            <a:r>
              <a:rPr lang="en-US" altLang="en-US" sz="2200" i="1" dirty="0">
                <a:latin typeface="Arial" panose="020B0604020202020204" pitchFamily="34" charset="0"/>
              </a:rPr>
              <a:t>tr, pr, bl</a:t>
            </a:r>
            <a:r>
              <a:rPr lang="en-US" altLang="en-US" sz="2200" dirty="0">
                <a:latin typeface="Arial" panose="020B0604020202020204" pitchFamily="34" charset="0"/>
              </a:rPr>
              <a:t>).</a:t>
            </a:r>
            <a:br>
              <a:rPr lang="en-US" altLang="en-US" sz="2200" dirty="0">
                <a:latin typeface="Arial" panose="020B0604020202020204" pitchFamily="34" charset="0"/>
              </a:rPr>
            </a:br>
            <a:br>
              <a:rPr lang="en-US" altLang="en-US" sz="2200" dirty="0">
                <a:latin typeface="Arial" panose="020B0604020202020204" pitchFamily="34" charset="0"/>
              </a:rPr>
            </a:br>
            <a:r>
              <a:rPr lang="en-US" altLang="en-US" sz="2200" dirty="0" err="1">
                <a:latin typeface="Arial" panose="020B0604020202020204" pitchFamily="34" charset="0"/>
              </a:rPr>
              <a:t>Selectează</a:t>
            </a:r>
            <a:r>
              <a:rPr lang="en-US" altLang="en-US" sz="2200" dirty="0">
                <a:latin typeface="Arial" panose="020B0604020202020204" pitchFamily="34" charset="0"/>
              </a:rPr>
              <a:t> </a:t>
            </a:r>
            <a:r>
              <a:rPr lang="en-US" altLang="en-US" sz="2200" dirty="0" err="1">
                <a:latin typeface="Arial" panose="020B0604020202020204" pitchFamily="34" charset="0"/>
              </a:rPr>
              <a:t>aleatoriu</a:t>
            </a:r>
            <a:r>
              <a:rPr lang="en-US" altLang="en-US" sz="2200" dirty="0">
                <a:latin typeface="Arial" panose="020B0604020202020204" pitchFamily="34" charset="0"/>
              </a:rPr>
              <a:t> o </a:t>
            </a:r>
            <a:r>
              <a:rPr lang="en-US" altLang="en-US" sz="2200" dirty="0" err="1">
                <a:latin typeface="Arial" panose="020B0604020202020204" pitchFamily="34" charset="0"/>
              </a:rPr>
              <a:t>radacina</a:t>
            </a:r>
            <a:r>
              <a:rPr lang="en-US" altLang="en-US" sz="2200" dirty="0">
                <a:latin typeface="Arial" panose="020B0604020202020204" pitchFamily="34" charset="0"/>
              </a:rPr>
              <a:t> </a:t>
            </a:r>
            <a:r>
              <a:rPr lang="en-US" altLang="en-US" sz="2200" dirty="0" err="1">
                <a:latin typeface="Arial" panose="020B0604020202020204" pitchFamily="34" charset="0"/>
              </a:rPr>
              <a:t>valida</a:t>
            </a:r>
            <a:r>
              <a:rPr lang="en-US" altLang="en-US" sz="2200" dirty="0">
                <a:latin typeface="Arial" panose="020B0604020202020204" pitchFamily="34" charset="0"/>
              </a:rPr>
              <a:t> (ex: </a:t>
            </a:r>
            <a:r>
              <a:rPr lang="en-US" altLang="en-US" sz="2200" i="1" dirty="0" err="1">
                <a:latin typeface="Arial" panose="020B0604020202020204" pitchFamily="34" charset="0"/>
              </a:rPr>
              <a:t>bogan</a:t>
            </a:r>
            <a:r>
              <a:rPr lang="en-US" altLang="en-US" sz="2200" i="1" dirty="0">
                <a:latin typeface="Arial" panose="020B0604020202020204" pitchFamily="34" charset="0"/>
              </a:rPr>
              <a:t>-</a:t>
            </a:r>
            <a:r>
              <a:rPr lang="en-US" altLang="en-US" sz="2200" dirty="0">
                <a:latin typeface="Arial" panose="020B0604020202020204" pitchFamily="34" charset="0"/>
              </a:rPr>
              <a:t>, </a:t>
            </a:r>
            <a:r>
              <a:rPr lang="en-US" altLang="en-US" sz="2200" i="1" dirty="0" err="1">
                <a:latin typeface="Arial" panose="020B0604020202020204" pitchFamily="34" charset="0"/>
              </a:rPr>
              <a:t>snorp</a:t>
            </a:r>
            <a:r>
              <a:rPr lang="en-US" altLang="en-US" sz="2200" i="1" dirty="0">
                <a:latin typeface="Arial" panose="020B0604020202020204" pitchFamily="34" charset="0"/>
              </a:rPr>
              <a:t>-</a:t>
            </a:r>
            <a:r>
              <a:rPr lang="en-US" altLang="en-US" sz="2200" dirty="0">
                <a:latin typeface="Arial" panose="020B0604020202020204" pitchFamily="34" charset="0"/>
              </a:rPr>
              <a:t>) </a:t>
            </a:r>
            <a:r>
              <a:rPr lang="en-US" altLang="en-US" sz="2200" dirty="0" err="1">
                <a:latin typeface="Arial" panose="020B0604020202020204" pitchFamily="34" charset="0"/>
              </a:rPr>
              <a:t>folosind</a:t>
            </a:r>
            <a:r>
              <a:rPr lang="en-US" altLang="en-US" sz="2200" dirty="0">
                <a:latin typeface="Arial" panose="020B0604020202020204" pitchFamily="34" charset="0"/>
              </a:rPr>
              <a:t> </a:t>
            </a:r>
            <a:r>
              <a:rPr lang="en-US" altLang="en-US" sz="2200" dirty="0" err="1">
                <a:latin typeface="Arial" panose="020B0604020202020204" pitchFamily="34" charset="0"/>
              </a:rPr>
              <a:t>liste</a:t>
            </a:r>
            <a:r>
              <a:rPr lang="en-US" altLang="en-US" sz="2200" dirty="0">
                <a:latin typeface="Arial" panose="020B0604020202020204" pitchFamily="34" charset="0"/>
              </a:rPr>
              <a:t> </a:t>
            </a:r>
            <a:r>
              <a:rPr lang="en-US" altLang="en-US" sz="2200" dirty="0" err="1">
                <a:latin typeface="Arial" panose="020B0604020202020204" pitchFamily="34" charset="0"/>
              </a:rPr>
              <a:t>predefinite</a:t>
            </a:r>
            <a:r>
              <a:rPr lang="en-US" altLang="en-US" sz="2200" dirty="0">
                <a:latin typeface="Arial" panose="020B0604020202020204" pitchFamily="34" charset="0"/>
              </a:rPr>
              <a:t> de </a:t>
            </a:r>
            <a:r>
              <a:rPr lang="en-US" altLang="en-US" sz="2200" dirty="0" err="1">
                <a:latin typeface="Arial" panose="020B0604020202020204" pitchFamily="34" charset="0"/>
              </a:rPr>
              <a:t>consoane</a:t>
            </a:r>
            <a:r>
              <a:rPr lang="en-US" altLang="en-US" sz="2200" dirty="0">
                <a:latin typeface="Arial" panose="020B0604020202020204" pitchFamily="34" charset="0"/>
              </a:rPr>
              <a:t> </a:t>
            </a:r>
            <a:r>
              <a:rPr lang="en-US" altLang="en-US" sz="2200" dirty="0" err="1">
                <a:latin typeface="Arial" panose="020B0604020202020204" pitchFamily="34" charset="0"/>
              </a:rPr>
              <a:t>și</a:t>
            </a:r>
            <a:r>
              <a:rPr lang="en-US" altLang="en-US" sz="2200" dirty="0">
                <a:latin typeface="Arial" panose="020B0604020202020204" pitchFamily="34" charset="0"/>
              </a:rPr>
              <a:t> </a:t>
            </a:r>
            <a:r>
              <a:rPr lang="en-US" altLang="en-US" sz="2200" dirty="0" err="1">
                <a:latin typeface="Arial" panose="020B0604020202020204" pitchFamily="34" charset="0"/>
              </a:rPr>
              <a:t>vocale</a:t>
            </a:r>
            <a:r>
              <a:rPr lang="en-US" altLang="en-US" sz="2200" dirty="0">
                <a:latin typeface="Arial" panose="020B0604020202020204" pitchFamily="34" charset="0"/>
              </a:rPr>
              <a:t>.</a:t>
            </a:r>
            <a:br>
              <a:rPr lang="en-US" altLang="en-US" sz="2200" dirty="0">
                <a:latin typeface="Arial" panose="020B0604020202020204" pitchFamily="34" charset="0"/>
              </a:rPr>
            </a:br>
            <a:br>
              <a:rPr lang="en-US" altLang="en-US" sz="2200" dirty="0">
                <a:latin typeface="Arial" panose="020B0604020202020204" pitchFamily="34" charset="0"/>
              </a:rPr>
            </a:br>
            <a:r>
              <a:rPr lang="en-US" altLang="en-US" sz="2200" dirty="0" err="1">
                <a:latin typeface="Arial" panose="020B0604020202020204" pitchFamily="34" charset="0"/>
              </a:rPr>
              <a:t>Cuvintele</a:t>
            </a:r>
            <a:r>
              <a:rPr lang="en-US" altLang="en-US" sz="2200" dirty="0">
                <a:latin typeface="Arial" panose="020B0604020202020204" pitchFamily="34" charset="0"/>
              </a:rPr>
              <a:t> nu </a:t>
            </a:r>
            <a:r>
              <a:rPr lang="en-US" altLang="en-US" sz="2200" dirty="0" err="1">
                <a:latin typeface="Arial" panose="020B0604020202020204" pitchFamily="34" charset="0"/>
              </a:rPr>
              <a:t>exista</a:t>
            </a:r>
            <a:r>
              <a:rPr lang="en-US" altLang="en-US" sz="2200" dirty="0">
                <a:latin typeface="Arial" panose="020B0604020202020204" pitchFamily="34" charset="0"/>
              </a:rPr>
              <a:t> </a:t>
            </a:r>
            <a:r>
              <a:rPr lang="en-US" altLang="en-US" sz="2200" dirty="0" err="1">
                <a:latin typeface="Arial" panose="020B0604020202020204" pitchFamily="34" charset="0"/>
              </a:rPr>
              <a:t>în</a:t>
            </a:r>
            <a:r>
              <a:rPr lang="en-US" altLang="en-US" sz="2200" dirty="0">
                <a:latin typeface="Arial" panose="020B0604020202020204" pitchFamily="34" charset="0"/>
              </a:rPr>
              <a:t> </a:t>
            </a:r>
            <a:r>
              <a:rPr lang="en-US" altLang="en-US" sz="2200" dirty="0" err="1">
                <a:latin typeface="Arial" panose="020B0604020202020204" pitchFamily="34" charset="0"/>
              </a:rPr>
              <a:t>dictionar</a:t>
            </a:r>
            <a:r>
              <a:rPr lang="en-US" altLang="en-US" sz="2200" dirty="0">
                <a:latin typeface="Arial" panose="020B0604020202020204" pitchFamily="34" charset="0"/>
              </a:rPr>
              <a:t>, </a:t>
            </a:r>
            <a:r>
              <a:rPr lang="en-US" altLang="en-US" sz="2200" dirty="0" err="1">
                <a:latin typeface="Arial" panose="020B0604020202020204" pitchFamily="34" charset="0"/>
              </a:rPr>
              <a:t>dar</a:t>
            </a:r>
            <a:r>
              <a:rPr lang="en-US" altLang="en-US" sz="2200" dirty="0">
                <a:latin typeface="Arial" panose="020B0604020202020204" pitchFamily="34" charset="0"/>
              </a:rPr>
              <a:t> sunt </a:t>
            </a:r>
            <a:r>
              <a:rPr lang="en-US" altLang="en-US" sz="2200" dirty="0" err="1">
                <a:latin typeface="Arial" panose="020B0604020202020204" pitchFamily="34" charset="0"/>
              </a:rPr>
              <a:t>pronunțabile</a:t>
            </a:r>
            <a:r>
              <a:rPr lang="en-US" altLang="en-US" sz="2200" dirty="0">
                <a:latin typeface="Arial" panose="020B0604020202020204" pitchFamily="34" charset="0"/>
              </a:rPr>
              <a:t> (ex: </a:t>
            </a:r>
            <a:r>
              <a:rPr lang="en-US" altLang="en-US" sz="2200" i="1" dirty="0">
                <a:latin typeface="Arial" panose="020B0604020202020204" pitchFamily="34" charset="0"/>
              </a:rPr>
              <a:t>a </a:t>
            </a:r>
            <a:r>
              <a:rPr lang="en-US" altLang="en-US" sz="2200" i="1" dirty="0" err="1">
                <a:latin typeface="Arial" panose="020B0604020202020204" pitchFamily="34" charset="0"/>
              </a:rPr>
              <a:t>boganiza</a:t>
            </a:r>
            <a:r>
              <a:rPr lang="en-US" altLang="en-US" sz="2200" dirty="0">
                <a:latin typeface="Arial" panose="020B0604020202020204" pitchFamily="34" charset="0"/>
              </a:rPr>
              <a:t>).</a:t>
            </a:r>
            <a:br>
              <a:rPr lang="en-US" altLang="en-US" sz="2200" dirty="0">
                <a:latin typeface="Arial" panose="020B0604020202020204" pitchFamily="34" charset="0"/>
              </a:rPr>
            </a:br>
            <a:br>
              <a:rPr lang="en-US" altLang="en-US" sz="2200" dirty="0">
                <a:latin typeface="Arial" panose="020B0604020202020204" pitchFamily="34" charset="0"/>
              </a:rPr>
            </a:br>
            <a:br>
              <a:rPr lang="en-US" altLang="en-US" sz="2800" dirty="0">
                <a:latin typeface="Arial" panose="020B0604020202020204" pitchFamily="34" charset="0"/>
              </a:rPr>
            </a:br>
            <a:br>
              <a:rPr lang="en-US" sz="2800" dirty="0"/>
            </a:br>
            <a:br>
              <a:rPr lang="en-US" sz="2800" dirty="0"/>
            </a:br>
            <a:br>
              <a:rPr lang="en-US" sz="2800" dirty="0"/>
            </a:br>
            <a:br>
              <a:rPr lang="en-US" sz="2800" dirty="0"/>
            </a:br>
            <a:br>
              <a:rPr lang="en-US" sz="2800" dirty="0"/>
            </a:br>
            <a:br>
              <a:rPr lang="en-US" sz="2800" dirty="0"/>
            </a:br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7207C5-4A94-A799-D3C1-1488C61C9F6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18D65601-5AE2-46FC-B138-694DDD2B510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56F601C-FF75-BF26-9B94-AAAF9D60176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13067816" y="4791919"/>
            <a:ext cx="467257" cy="69253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5349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5B3B2166-0020-8D8C-D5D8-F67C14E7525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317625" y="1054928"/>
            <a:ext cx="10149125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36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Participiu</a:t>
            </a:r>
            <a:r>
              <a:rPr lang="en-US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US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3600" b="1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Regulate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Adaugare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directa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kumimoji="0" lang="en-US" altLang="en-US" sz="2000" b="1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-at, -it, -</a:t>
            </a:r>
            <a:r>
              <a:rPr kumimoji="0" lang="en-US" altLang="en-US" sz="2000" b="1" i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ut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Complexe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Alternante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fonetice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unde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sufixul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modifică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radacina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(ex: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terminațiile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kumimoji="0" lang="en-US" altLang="en-US" sz="2000" b="1" i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ge</a:t>
            </a:r>
            <a:r>
              <a:rPr kumimoji="0" lang="en-US" altLang="en-US" sz="2000" b="1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-</a:t>
            </a:r>
            <a:r>
              <a:rPr kumimoji="0" lang="en-US" altLang="en-US" sz="2000" b="1" i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kumimoji="0" lang="en-US" altLang="en-US" sz="2000" b="1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-ne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devin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-s).</a:t>
            </a:r>
            <a:b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1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Imperfect:</a:t>
            </a:r>
            <a:b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400" b="1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Am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generat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paradigma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completa (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Persoanele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1-6) pentru a </a:t>
            </a:r>
            <a:r>
              <a:rPr lang="en-US" alt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nva</a:t>
            </a:r>
            <a:r>
              <a:rPr lang="en-US" altLang="en-US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acordul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subiect-predicat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b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trebuie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să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distinga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între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sufixele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simple (</a:t>
            </a:r>
            <a:r>
              <a:rPr kumimoji="0" lang="en-US" altLang="en-US" sz="2000" b="1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-am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și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cele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cu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diftong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kumimoji="0" lang="en-US" altLang="en-US" sz="2000" b="1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kumimoji="0" lang="en-US" altLang="en-US" sz="2000" b="1" i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eam</a:t>
            </a:r>
            <a:r>
              <a:rPr kumimoji="0" lang="en-US" altLang="en-US" sz="2000" b="1" i="1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-</a:t>
            </a:r>
            <a:r>
              <a:rPr kumimoji="0" lang="en-US" altLang="en-US" sz="2000" b="1" i="1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iam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86329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5A114-F53D-D60D-7A6D-F25B053BE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759357" cy="5253089"/>
          </a:xfrm>
        </p:spPr>
        <p:txBody>
          <a:bodyPr/>
          <a:lstStyle/>
          <a:p>
            <a:r>
              <a:rPr lang="en-US" dirty="0"/>
              <a:t>Ce model am </a:t>
            </a:r>
            <a:r>
              <a:rPr lang="en-US" dirty="0" err="1"/>
              <a:t>folosit</a:t>
            </a:r>
            <a:r>
              <a:rPr lang="en-US" dirty="0"/>
              <a:t>?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36139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D067A-1E5E-1BCB-86EE-4B4EA0DE41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770932" cy="5253089"/>
          </a:xfrm>
        </p:spPr>
        <p:txBody>
          <a:bodyPr>
            <a:noAutofit/>
          </a:bodyPr>
          <a:lstStyle/>
          <a:p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Bază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(1986):</a:t>
            </a:r>
            <a:b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Feed-Forward Network (MLP).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Aplatizează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cuvântul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intr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-un vector static.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Scop: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Reproduce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limitarile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abordării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originale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Rumelhart.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1947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DB1E5-C127-09CB-44A9-B1CBB1F89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851955" cy="5253089"/>
          </a:xfrm>
        </p:spPr>
        <p:txBody>
          <a:bodyPr>
            <a:noAutofit/>
          </a:bodyPr>
          <a:lstStyle/>
          <a:p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Propus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noi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Bidirecțional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Arhitectură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Embedding (</a:t>
            </a:r>
            <a:r>
              <a:rPr lang="en-US" sz="2400" dirty="0"/>
              <a:t>128 dim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Reprezentare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densă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caracterelor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2400" b="1" dirty="0"/>
              <a:t>Stacked Bi-LSTM</a:t>
            </a:r>
            <a:r>
              <a:rPr lang="sv-SE" sz="2400" dirty="0"/>
              <a:t> (Strat 1: 256, Strat 2: 128):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Procesează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secvența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în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ambele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sensuri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-&gt;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esential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deoarece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conjugarea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romana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mult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grea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engleza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Dropout (</a:t>
            </a:r>
            <a:r>
              <a:rPr lang="en-US" sz="2400" dirty="0"/>
              <a:t>0.4 </a:t>
            </a:r>
            <a:r>
              <a:rPr lang="en-US" sz="2400" dirty="0" err="1"/>
              <a:t>și</a:t>
            </a:r>
            <a:r>
              <a:rPr lang="en-US" sz="2400" dirty="0"/>
              <a:t> 0.3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Previne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memorarea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mecanică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84929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685B0-84E0-AE8C-2FB2-38950D6D38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0764" y="802455"/>
            <a:ext cx="9747782" cy="5253089"/>
          </a:xfrm>
        </p:spPr>
        <p:txBody>
          <a:bodyPr>
            <a:normAutofit fontScale="90000"/>
          </a:bodyPr>
          <a:lstStyle/>
          <a:p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Platformă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Google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Colab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(Cloud).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NVIDIA T4 Tensor Core (16GB VRAM - Free Tier).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Consum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Resurse</a:t>
            </a:r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VRAM: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&lt; 1 GB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utilizat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(Model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foarte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ușor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Timp </a:t>
            </a:r>
            <a:r>
              <a:rPr lang="en-US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Antrenare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/>
              <a:t>Un </a:t>
            </a:r>
            <a:r>
              <a:rPr lang="en-US" sz="2400" dirty="0" err="1"/>
              <a:t>rezultat</a:t>
            </a:r>
            <a:r>
              <a:rPr lang="en-US" sz="2400" dirty="0"/>
              <a:t> </a:t>
            </a:r>
            <a:r>
              <a:rPr lang="en-US" sz="2400" dirty="0" err="1"/>
              <a:t>surprinzator</a:t>
            </a:r>
            <a:r>
              <a:rPr lang="en-US" sz="2400" dirty="0"/>
              <a:t> a fost </a:t>
            </a:r>
            <a:r>
              <a:rPr lang="en-US" sz="2400" dirty="0" err="1"/>
              <a:t>viteza</a:t>
            </a:r>
            <a:r>
              <a:rPr lang="en-US" sz="2400" dirty="0"/>
              <a:t> de </a:t>
            </a:r>
            <a:r>
              <a:rPr lang="en-US" sz="2400" dirty="0" err="1"/>
              <a:t>invatare</a:t>
            </a:r>
            <a:r>
              <a:rPr lang="en-US" sz="2400" dirty="0"/>
              <a:t>. Desi am avut un set de date mare, de 15.000 de </a:t>
            </a:r>
            <a:r>
              <a:rPr lang="en-US" sz="2400" dirty="0" err="1"/>
              <a:t>exemple</a:t>
            </a:r>
            <a:r>
              <a:rPr lang="en-US" sz="2400" dirty="0"/>
              <a:t>, </a:t>
            </a:r>
            <a:r>
              <a:rPr lang="en-US" sz="2400" dirty="0" err="1"/>
              <a:t>antrenamentul</a:t>
            </a:r>
            <a:r>
              <a:rPr lang="en-US" sz="2400" dirty="0"/>
              <a:t> a </a:t>
            </a:r>
            <a:r>
              <a:rPr lang="en-US" sz="2400" dirty="0" err="1"/>
              <a:t>durat</a:t>
            </a:r>
            <a:r>
              <a:rPr lang="en-US" sz="2400" dirty="0"/>
              <a:t> </a:t>
            </a:r>
            <a:r>
              <a:rPr lang="en-US" sz="2400" b="1" dirty="0"/>
              <a:t>sub 30 de minute</a:t>
            </a:r>
            <a:r>
              <a:rPr lang="en-US" sz="2400" dirty="0"/>
              <a:t>. </a:t>
            </a:r>
            <a:br>
              <a:rPr lang="en-US" sz="2400" dirty="0"/>
            </a:br>
            <a:br>
              <a:rPr lang="en-US" sz="2400" dirty="0"/>
            </a:br>
            <a:r>
              <a:rPr lang="en-US" sz="2400" b="1" dirty="0" err="1"/>
              <a:t>Modelul</a:t>
            </a:r>
            <a:r>
              <a:rPr lang="en-US" sz="2400" b="1" dirty="0"/>
              <a:t> a '</a:t>
            </a:r>
            <a:r>
              <a:rPr lang="en-US" sz="2400" b="1" dirty="0" err="1"/>
              <a:t>prins'</a:t>
            </a:r>
            <a:r>
              <a:rPr lang="en-US" sz="2400" b="1" dirty="0"/>
              <a:t> </a:t>
            </a:r>
            <a:r>
              <a:rPr lang="en-US" sz="2400" b="1" dirty="0" err="1"/>
              <a:t>logica</a:t>
            </a:r>
            <a:r>
              <a:rPr lang="en-US" sz="2400" b="1" dirty="0"/>
              <a:t> </a:t>
            </a:r>
            <a:r>
              <a:rPr lang="en-US" sz="2400" b="1" dirty="0" err="1"/>
              <a:t>aproape</a:t>
            </a:r>
            <a:r>
              <a:rPr lang="en-US" sz="2400" b="1" dirty="0"/>
              <a:t> </a:t>
            </a:r>
            <a:r>
              <a:rPr lang="en-US" sz="2400" b="1" dirty="0" err="1"/>
              <a:t>instantaneu</a:t>
            </a:r>
            <a:r>
              <a:rPr lang="en-US" sz="2400" b="1" dirty="0"/>
              <a:t>, </a:t>
            </a:r>
            <a:r>
              <a:rPr lang="en-US" sz="2400" b="1" dirty="0" err="1"/>
              <a:t>ajungand</a:t>
            </a:r>
            <a:r>
              <a:rPr lang="en-US" sz="2400" b="1" dirty="0"/>
              <a:t> la </a:t>
            </a:r>
            <a:r>
              <a:rPr lang="en-US" sz="2400" b="1" dirty="0" err="1"/>
              <a:t>performanta</a:t>
            </a:r>
            <a:r>
              <a:rPr lang="en-US" sz="2400" b="1" dirty="0"/>
              <a:t> maxima </a:t>
            </a:r>
            <a:r>
              <a:rPr lang="en-US" sz="2400" b="1" dirty="0" err="1"/>
              <a:t>foarte</a:t>
            </a:r>
            <a:r>
              <a:rPr lang="en-US" sz="2400" b="1" dirty="0"/>
              <a:t> </a:t>
            </a:r>
            <a:r>
              <a:rPr lang="en-US" sz="2400" b="1" dirty="0" err="1"/>
              <a:t>repede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9566205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F517DE-6C2C-CADA-326A-B8FDB9F8D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701484" cy="5253089"/>
          </a:xfrm>
        </p:spPr>
        <p:txBody>
          <a:bodyPr>
            <a:normAutofit fontScale="90000"/>
          </a:bodyPr>
          <a:lstStyle/>
          <a:p>
            <a:r>
              <a:rPr lang="en-US" sz="3100" b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Metoda</a:t>
            </a:r>
            <a:r>
              <a:rPr lang="en-US" sz="31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100" b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Veche</a:t>
            </a:r>
            <a:r>
              <a:rPr lang="en-US" sz="31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(MLP):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Aceasta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cuvântul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și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îl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lipește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 un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panou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locuri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fixe.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Rețeaua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vede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doar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poziție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statică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Dacă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cuvânt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decalat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 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rețeaua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nu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recunoaște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tiparul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pentru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nu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înțelege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ordinea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doar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poziția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fixă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100" b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Metoda</a:t>
            </a:r>
            <a:r>
              <a:rPr lang="en-US" sz="31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100" b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Nouă</a:t>
            </a:r>
            <a:r>
              <a:rPr lang="en-US" sz="31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(LSTM - </a:t>
            </a:r>
            <a:r>
              <a:rPr lang="en-US" sz="3100" b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Propunerea</a:t>
            </a:r>
            <a:r>
              <a:rPr lang="en-US" sz="31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100" b="1" u="sng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noastră</a:t>
            </a:r>
            <a:r>
              <a:rPr lang="en-US" sz="31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b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Spre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deosebire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veche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LSTM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citește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secvențial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exact cum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citim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Dar face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ceva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în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plus: </a:t>
            </a:r>
            <a:r>
              <a:rPr lang="en-US" sz="27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leagă</a:t>
            </a:r>
            <a: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7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literele</a:t>
            </a:r>
            <a: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7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intre</a:t>
            </a:r>
            <a: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7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</a:t>
            </a:r>
            <a: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Cand LSTM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citește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doua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ține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minte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și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văzut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la prima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Astfel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înțelege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contextul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știe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'A' a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venit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după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litera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'M'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și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impreuna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formează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silabă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Aceasta “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memorie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îi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permite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recunoască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radacina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verbului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indiferent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află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în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propozitie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."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18222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00102-9411-0687-0005-67D63E7FD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Rezultate</a:t>
            </a:r>
            <a:r>
              <a:rPr lang="en-US" dirty="0"/>
              <a:t>: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19725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8C07F-69BA-41BC-FC24-2E530E1A8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620461" cy="5253089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LSTM(</a:t>
            </a:r>
            <a:r>
              <a:rPr lang="en-US" sz="4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grafice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4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invatare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654D0A-3A6B-72C8-6A7C-0EF0D1D62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974" y="515510"/>
            <a:ext cx="10336193" cy="4275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7105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2530F-307A-6C89-D57A-021D8E2A8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7615" y="690511"/>
            <a:ext cx="9916442" cy="5253089"/>
          </a:xfrm>
        </p:spPr>
        <p:txBody>
          <a:bodyPr>
            <a:normAutofit/>
          </a:bodyPr>
          <a:lstStyle/>
          <a:p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 am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luat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acuratetea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datele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testare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considerare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deoarece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imparte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cuvintele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(80/20) 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datasetul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training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datasetul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testare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astfel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posibil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existe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cuvinte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aceeasi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radacina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ambele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ceea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ar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permite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modelului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memoreze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0C79B8-41C1-BECE-9192-597267D27D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201" y="1122745"/>
            <a:ext cx="4190034" cy="31598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64F637-0FA6-5825-57F7-C31A3DF07E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744" y="1053598"/>
            <a:ext cx="3324225" cy="322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971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BFF2CA4-6757-389D-3ED3-683A930E9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514" y="691835"/>
            <a:ext cx="4784372" cy="5250496"/>
          </a:xfrm>
          <a:prstGeom prst="rect">
            <a:avLst/>
          </a:prstGeom>
          <a:noFill/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4A1553F9-B4AD-78C0-A7F2-729E20590C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317625" y="1885924"/>
            <a:ext cx="5658921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obținut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 </a:t>
            </a:r>
            <a:r>
              <a:rPr kumimoji="0" lang="en-US" altLang="en-US" sz="2000" b="1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acuratețe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 95.50%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 un set de 200 de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verbe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complet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generate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aleatoriu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ceea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demonstreaza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 acesta nu </a:t>
            </a:r>
            <a:b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memoreaza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cuvintele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Cel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mai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impresionant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detaliu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acela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modelul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obtinut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acuratete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perfecta la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testele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complexe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kumimoji="0" lang="en-US" altLang="en-US" sz="2000" b="0" i="0" u="none" strike="noStrike" cap="none" normalizeH="0" baseline="0" dirty="0">
                <a:ln>
                  <a:noFill/>
                </a:ln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61567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06CA02-A3CA-A6A4-503F-73AE9D711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7252" y="328612"/>
            <a:ext cx="5934075" cy="6200775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4F3481C1-6759-E82B-B79D-56AFAA25E3F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3377" y="1054930"/>
            <a:ext cx="13063333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1800" b="1" dirty="0">
                <a:latin typeface="Arial" panose="020B0604020202020204" pitchFamily="34" charset="0"/>
              </a:rPr>
              <a:t>TOTAL: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97.57%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pe 1.400 de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exemple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noi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b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b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Performan</a:t>
            </a:r>
            <a:r>
              <a:rPr lang="en-US" altLang="en-US" sz="1800" dirty="0" err="1">
                <a:latin typeface="Arial" panose="020B0604020202020204" pitchFamily="34" charset="0"/>
              </a:rPr>
              <a:t>ta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mai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buna la 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kumimoji="0" lang="en-US" altLang="en-US" sz="18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Imperfect (98.00%)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decat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la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Participiu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(95.00%),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demonstrand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stabilitatea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retelei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pe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effectLst/>
                <a:latin typeface="Arial" panose="020B0604020202020204" pitchFamily="34" charset="0"/>
              </a:rPr>
              <a:t>secvente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lungi.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br>
              <a:rPr lang="en-US" altLang="en-US" sz="1800" dirty="0">
                <a:latin typeface="Arial" panose="020B0604020202020204" pitchFamily="34" charset="0"/>
              </a:rPr>
            </a:br>
            <a:r>
              <a:rPr lang="en-US" altLang="en-US" sz="1800" dirty="0" err="1">
                <a:latin typeface="Arial" panose="020B0604020202020204" pitchFamily="34" charset="0"/>
              </a:rPr>
              <a:t>Namarie</a:t>
            </a:r>
            <a:r>
              <a:rPr lang="en-US" altLang="en-US" sz="1800" dirty="0">
                <a:latin typeface="Arial" panose="020B0604020202020204" pitchFamily="34" charset="0"/>
              </a:rPr>
              <a:t> =&gt; </a:t>
            </a:r>
            <a:r>
              <a:rPr lang="en-US" altLang="en-US" sz="1800" dirty="0" err="1">
                <a:latin typeface="Arial" panose="020B0604020202020204" pitchFamily="34" charset="0"/>
              </a:rPr>
              <a:t>namarieam</a:t>
            </a:r>
            <a:r>
              <a:rPr lang="en-US" altLang="en-US" sz="1800" dirty="0">
                <a:latin typeface="Arial" panose="020B0604020202020204" pitchFamily="34" charset="0"/>
              </a:rPr>
              <a:t> (</a:t>
            </a:r>
            <a:r>
              <a:rPr lang="en-US" altLang="en-US" sz="1800" dirty="0" err="1">
                <a:latin typeface="Arial" panose="020B0604020202020204" pitchFamily="34" charset="0"/>
              </a:rPr>
              <a:t>în</a:t>
            </a:r>
            <a:r>
              <a:rPr lang="en-US" altLang="en-US" sz="1800" dirty="0">
                <a:latin typeface="Arial" panose="020B0604020202020204" pitchFamily="34" charset="0"/>
              </a:rPr>
              <a:t> loc de </a:t>
            </a:r>
            <a:r>
              <a:rPr lang="en-US" altLang="en-US" sz="1800" dirty="0" err="1">
                <a:latin typeface="Arial" panose="020B0604020202020204" pitchFamily="34" charset="0"/>
              </a:rPr>
              <a:t>namariam</a:t>
            </a:r>
            <a:r>
              <a:rPr lang="en-US" altLang="en-US" sz="1800" dirty="0">
                <a:latin typeface="Arial" panose="020B0604020202020204" pitchFamily="34" charset="0"/>
              </a:rPr>
              <a:t>).</a:t>
            </a:r>
            <a:br>
              <a:rPr lang="en-US" altLang="en-US" sz="1800" dirty="0">
                <a:latin typeface="Arial" panose="020B0604020202020204" pitchFamily="34" charset="0"/>
              </a:rPr>
            </a:br>
            <a:br>
              <a:rPr lang="en-US" altLang="en-US" sz="1800" dirty="0">
                <a:latin typeface="Arial" panose="020B0604020202020204" pitchFamily="34" charset="0"/>
              </a:rPr>
            </a:br>
            <a:r>
              <a:rPr lang="en-US" altLang="en-US" sz="1800" dirty="0" err="1">
                <a:latin typeface="Arial" panose="020B0604020202020204" pitchFamily="34" charset="0"/>
              </a:rPr>
              <a:t>Explicație</a:t>
            </a:r>
            <a:r>
              <a:rPr lang="en-US" altLang="en-US" sz="1800" dirty="0">
                <a:latin typeface="Arial" panose="020B0604020202020204" pitchFamily="34" charset="0"/>
              </a:rPr>
              <a:t>: </a:t>
            </a:r>
            <a:r>
              <a:rPr lang="en-US" altLang="en-US" sz="1800" dirty="0" err="1">
                <a:latin typeface="Arial" panose="020B0604020202020204" pitchFamily="34" charset="0"/>
              </a:rPr>
              <a:t>Modelul</a:t>
            </a:r>
            <a:r>
              <a:rPr lang="en-US" altLang="en-US" sz="1800" dirty="0">
                <a:latin typeface="Arial" panose="020B0604020202020204" pitchFamily="34" charset="0"/>
              </a:rPr>
              <a:t> a </a:t>
            </a:r>
            <a:r>
              <a:rPr lang="en-US" altLang="en-US" sz="1800" dirty="0" err="1">
                <a:latin typeface="Arial" panose="020B0604020202020204" pitchFamily="34" charset="0"/>
              </a:rPr>
              <a:t>păstrat</a:t>
            </a:r>
            <a:r>
              <a:rPr lang="en-US" altLang="en-US" sz="1800" dirty="0">
                <a:latin typeface="Arial" panose="020B0604020202020204" pitchFamily="34" charset="0"/>
              </a:rPr>
              <a:t> </a:t>
            </a:r>
            <a:r>
              <a:rPr lang="en-US" altLang="en-US" sz="1800" dirty="0" err="1">
                <a:latin typeface="Arial" panose="020B0604020202020204" pitchFamily="34" charset="0"/>
              </a:rPr>
              <a:t>vocala</a:t>
            </a:r>
            <a:r>
              <a:rPr lang="en-US" altLang="en-US" sz="1800" dirty="0">
                <a:latin typeface="Arial" panose="020B0604020202020204" pitchFamily="34" charset="0"/>
              </a:rPr>
              <a:t> 'e' din </a:t>
            </a:r>
            <a:br>
              <a:rPr lang="en-US" altLang="en-US" sz="1800" dirty="0">
                <a:latin typeface="Arial" panose="020B0604020202020204" pitchFamily="34" charset="0"/>
              </a:rPr>
            </a:br>
            <a:r>
              <a:rPr lang="en-US" altLang="en-US" sz="1800" dirty="0" err="1">
                <a:latin typeface="Arial" panose="020B0604020202020204" pitchFamily="34" charset="0"/>
              </a:rPr>
              <a:t>rădăcină</a:t>
            </a:r>
            <a:r>
              <a:rPr lang="en-US" altLang="en-US" sz="1800" dirty="0">
                <a:latin typeface="Arial" panose="020B0604020202020204" pitchFamily="34" charset="0"/>
              </a:rPr>
              <a:t>, o </a:t>
            </a:r>
            <a:r>
              <a:rPr lang="en-US" altLang="en-US" sz="1800" dirty="0" err="1">
                <a:latin typeface="Arial" panose="020B0604020202020204" pitchFamily="34" charset="0"/>
              </a:rPr>
              <a:t>eroare</a:t>
            </a:r>
            <a:r>
              <a:rPr lang="en-US" altLang="en-US" sz="1800" dirty="0">
                <a:latin typeface="Arial" panose="020B0604020202020204" pitchFamily="34" charset="0"/>
              </a:rPr>
              <a:t> </a:t>
            </a:r>
            <a:r>
              <a:rPr lang="en-US" altLang="en-US" sz="1800" dirty="0" err="1">
                <a:latin typeface="Arial" panose="020B0604020202020204" pitchFamily="34" charset="0"/>
              </a:rPr>
              <a:t>tipică</a:t>
            </a:r>
            <a:r>
              <a:rPr lang="en-US" altLang="en-US" sz="1800" dirty="0">
                <a:latin typeface="Arial" panose="020B0604020202020204" pitchFamily="34" charset="0"/>
              </a:rPr>
              <a:t> de </a:t>
            </a:r>
            <a:r>
              <a:rPr lang="en-US" altLang="en-US" sz="1800" dirty="0" err="1">
                <a:latin typeface="Arial" panose="020B0604020202020204" pitchFamily="34" charset="0"/>
              </a:rPr>
              <a:t>regularizare</a:t>
            </a:r>
            <a:r>
              <a:rPr lang="en-US" altLang="en-US" sz="1800" dirty="0">
                <a:latin typeface="Arial" panose="020B0604020202020204" pitchFamily="34" charset="0"/>
              </a:rPr>
              <a:t> </a:t>
            </a:r>
            <a:br>
              <a:rPr lang="en-US" altLang="en-US" sz="1800" dirty="0">
                <a:latin typeface="Arial" panose="020B0604020202020204" pitchFamily="34" charset="0"/>
              </a:rPr>
            </a:br>
            <a:r>
              <a:rPr lang="en-US" altLang="en-US" sz="1800" dirty="0" err="1">
                <a:latin typeface="Arial" panose="020B0604020202020204" pitchFamily="34" charset="0"/>
              </a:rPr>
              <a:t>intalnita</a:t>
            </a:r>
            <a:r>
              <a:rPr lang="en-US" altLang="en-US" sz="1800" dirty="0">
                <a:latin typeface="Arial" panose="020B0604020202020204" pitchFamily="34" charset="0"/>
              </a:rPr>
              <a:t> la </a:t>
            </a:r>
            <a:r>
              <a:rPr lang="en-US" altLang="en-US" sz="1800" dirty="0" err="1">
                <a:latin typeface="Arial" panose="020B0604020202020204" pitchFamily="34" charset="0"/>
              </a:rPr>
              <a:t>copii</a:t>
            </a:r>
            <a:r>
              <a:rPr lang="en-US" altLang="en-US" sz="1800" dirty="0">
                <a:latin typeface="Arial" panose="020B0604020202020204" pitchFamily="34" charset="0"/>
              </a:rPr>
              <a:t> ("U-shaped learning").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7987897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2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8696B"/>
      </a:accent1>
      <a:accent2>
        <a:srgbClr val="95B8BF"/>
      </a:accent2>
      <a:accent3>
        <a:srgbClr val="BFD4D9"/>
      </a:accent3>
      <a:accent4>
        <a:srgbClr val="5B4839"/>
      </a:accent4>
      <a:accent5>
        <a:srgbClr val="C3A398"/>
      </a:accent5>
      <a:accent6>
        <a:srgbClr val="CA553E"/>
      </a:accent6>
      <a:hlink>
        <a:srgbClr val="0563C1"/>
      </a:hlink>
      <a:folHlink>
        <a:srgbClr val="954F72"/>
      </a:folHlink>
    </a:clrScheme>
    <a:fontScheme name="Custom 30">
      <a:majorFont>
        <a:latin typeface="Tisa Offc Serif Pro"/>
        <a:ea typeface=""/>
        <a:cs typeface=""/>
      </a:majorFont>
      <a:minorFont>
        <a:latin typeface="Univer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accent5">
              <a:lumMod val="20000"/>
              <a:lumOff val="8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78544816_Win32_SL_V10" id="{8934A6D9-B969-498F-A646-4B502FD69C4E}" vid="{AA78C1C8-456D-41A9-83FC-BC8B9A8EE3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FDB7358-0BCB-4DEB-B717-C1D7CC555F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DE3707C-8CAB-4302-B7E1-D32E1543E05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69E9DE5-EFFE-4262-A023-32732F0B66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{55F8611C-A8DE-4218-B3F7-35A4E7142017}TF3977e381-cba5-49b1-ba43-b5d865517af907ebbda9_win32-372d4d6ae720</Template>
  <TotalTime>489</TotalTime>
  <Words>1282</Words>
  <Application>Microsoft Office PowerPoint</Application>
  <PresentationFormat>Widescreen</PresentationFormat>
  <Paragraphs>47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Times New Roman</vt:lpstr>
      <vt:lpstr>Tisa Offc Serif Pro</vt:lpstr>
      <vt:lpstr>Univers Light</vt:lpstr>
      <vt:lpstr>Custom</vt:lpstr>
      <vt:lpstr>Reproducerea experimentului Rumelhart &amp; McClelland din 1986 pentru verbele din limba romaneasca   Autori: Albu Victor, Cristescu  Ciprian </vt:lpstr>
      <vt:lpstr>Ce s-a facut pana acum?   </vt:lpstr>
      <vt:lpstr>Titlu: "On learning the past tenses of English verbs"   Autori: David E. Rumelhart &amp; James L. McClelland  An: 1986   Despre ce e: A fost primul studiu care a demonstrat ca o retea neuronala poate invata conjugari (trecutul verbelor) fara sa i se programeze reguli gramaticale explicite.   A introdus conceptul de "U-shaped learning" (invatare in forma de U: memorare -&gt; greseli de generalizare -&gt; corectare). </vt:lpstr>
      <vt:lpstr>Titlu: "On language and connectionism: Analysis of a parallel  distributed processing model of language acquisition“  Autori: Steven Pinker &amp; Alan Prince An: 1988  Despre ce e: Ei au criticat dur modelul lui Rumelhart.  Au spus că rețeaua face greșeli pe care oamenii nu le fac și că modelul  de intrare ("Wickelfeatures") este o "ciorba" de litere care nu respecta  structura cuvantului.  Noi am rezolvat critica lui Pinker folosind LSTM-uri, care pastreaza  ordinea literelor, spre deosebire de modelul vechi.</vt:lpstr>
      <vt:lpstr>Ce date am folosit?   </vt:lpstr>
      <vt:lpstr>Problema: Lipsa unui set de date (dataset) curat și standardizat pentru perechile  Infinitiv-Trecut în limba română.   Solutia Noastra: Dezvoltarea unui Generator de Date Sintetice în Python.  De ce date sintetice(cuvinte inventate)?  1.Pentru a izola capacitatea rețelei de a invata reguli abstracte.  2.Dacă am folosi doar verbe reale, ar exista riscul ca reteaua sa memoreze pur și simplu cuvintele.  3.Verbele inventate (ex: boganiza) nu există în dicționar, deci singurul mod de a le conjuga este prin  invătarea regulii gramaticale. </vt:lpstr>
      <vt:lpstr>Total Exemple: 15.000 perechi   </vt:lpstr>
      <vt:lpstr>Cum le-am procesat?  Fiecare cuvant este reprezentat de o lista de numere deoarece fiecare litera este indexata.  Lungimea unei astfel de liste va fi de 20. Daca cuvantul este prea mic se va completa lista cu 0 pana la elmentul 20.  Exemplu:  [‘m’, ‘a’, ‘n’, ‘c’, ‘a’] -&gt; [14,  2, 15, 4, 2, 0, 0, …0]</vt:lpstr>
      <vt:lpstr>PowerPoint Presentation</vt:lpstr>
      <vt:lpstr>   Algoritmul de Generare Dataset  Structura:  Am implementat un algoritm care respectă structura silabică a limbii române: C-V (Consoană-Vocală) sau C-C-V (pentru grupuri precum tr, pr, bl).  Selectează aleatoriu o radacina valida (ex: bogan-, snorp-) folosind liste predefinite de consoane și vocale.  Cuvintele nu exista în dictionar, dar sunt pronunțabile (ex: a boganiza).         </vt:lpstr>
      <vt:lpstr>Participiu:  Regulate: Adaugare directa (-at, -it, -ut). Complexe: Alternante fonetice unde sufixul modifică radacina  (ex: terminațiile -ge, -ce, -ne devin -s).  Imperfect:  Am generat paradigma completa (Persoanele 1-6) pentru a invata acordul subiect-predicat.  Modelul trebuie să distinga între sufixele simple (-am) și cele cu diftong (-eam, -iam). </vt:lpstr>
      <vt:lpstr>Ce model am folosit? </vt:lpstr>
      <vt:lpstr>Modelul de Bază (1986):    Feed-Forward Network (MLP).    Aplatizează cuvântul intr-un vector static.  Scop: Reproduce limitarile abordării originale a lui Rumelhart. </vt:lpstr>
      <vt:lpstr>Modelul Propus de noi:   LSTM Bidirecțional.   Arhitectură:  Embedding (128 dim): Reprezentare densă a caracterelor.  Stacked Bi-LSTM (Strat 1: 256, Strat 2: 128): Procesează secvența în ambele sensuri -&gt; este esential deoarece conjugarea in romana este mult mai grea ca cea din engleza.   Dropout (0.4 și 0.3): Previne memorarea mecanică. </vt:lpstr>
      <vt:lpstr>Hardware  Platformă: Google Colab (Cloud).  GPU: NVIDIA T4 Tensor Core (16GB VRAM - Free Tier).  Consum Resurse:  VRAM: &lt; 1 GB utilizat (Model foarte ușor).  Timp Antrenare: Un rezultat surprinzator a fost viteza de invatare. Desi am avut un set de date mare, de 15.000 de exemple, antrenamentul a durat sub 30 de minute.   Modelul a 'prins' logica aproape instantaneu, ajungand la performanta maxima foarte repede</vt:lpstr>
      <vt:lpstr>Metoda Veche (MLP):  Aceasta ia cuvântul și îl lipește pe un panou cu locuri fixe. Rețeaua vede doar o poziție statică.  Dacă un cuvânt este decalat cu o literă, rețeaua nu mai recunoaște tiparul, pentru că nu înțelege ordinea, ci doar poziția fixă.   Metoda Nouă (LSTM - Propunerea noastră):  Spre deosebire de metoda veche, LSTM citește secvențial, literă cu literă, exact cum citim noi.  Dar face ceva în plus: leagă literele intre ele.  Cand LSTM citește a doua literă, el ține minte și ce a văzut la prima literă.  Astfel, el înțelege contextul: știe că litera 'A' a venit după litera 'M' și că impreuna formează o silabă. Aceasta “memorie” îi permite să recunoască radacina verbului indiferent unde se află ea în propozitie." </vt:lpstr>
      <vt:lpstr>Rezultate: </vt:lpstr>
      <vt:lpstr>Modelul LSTM(grafice de invatare)</vt:lpstr>
      <vt:lpstr>  Nu am luat acuratetea pe datele de testare in considerare deoarece modelul imparte cuvintele (80/20) in datasetul de training si datasetul de testare astfel posibil sa existe cuvinte cu aceeasi radacina in ambele parti ceea ce ar permite modelului sa le memoreze.</vt:lpstr>
      <vt:lpstr>Modelul a obținut o acuratețe de 95.50%  pe un set de 200 de verbe complet noi,  generate aleatoriu ceea ce demonstreaza ca acesta nu  memoreaza cuvintele.   Cel mai impresionant detaliu este acela ca modelul  a obtinut acuratete perfecta la testele complexe. </vt:lpstr>
      <vt:lpstr>TOTAL: 97.57% pe 1.400 de exemple noi.   Performanta mai buna la  Imperfect (98.00%) decat la Participiu  (95.00%), demonstrand stabilitatea retelei  pe secvente lungi.    Namarie =&gt; namarieam (în loc de namariam).  Explicație: Modelul a păstrat vocala 'e' din  rădăcină, o eroare tipică de regularizare  intalnita la copii ("U-shaped learning").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</dc:creator>
  <cp:lastModifiedBy>Victor</cp:lastModifiedBy>
  <cp:revision>8</cp:revision>
  <dcterms:created xsi:type="dcterms:W3CDTF">2025-12-11T09:25:52Z</dcterms:created>
  <dcterms:modified xsi:type="dcterms:W3CDTF">2026-01-18T00:27:23Z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