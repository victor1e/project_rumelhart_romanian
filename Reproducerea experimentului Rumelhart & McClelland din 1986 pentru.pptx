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322" r:id="rId5"/>
    <p:sldId id="324" r:id="rId6"/>
    <p:sldId id="323" r:id="rId7"/>
    <p:sldId id="325" r:id="rId8"/>
    <p:sldId id="326" r:id="rId9"/>
    <p:sldId id="327" r:id="rId10"/>
    <p:sldId id="328" r:id="rId11"/>
    <p:sldId id="329" r:id="rId12"/>
    <p:sldId id="330" r:id="rId13"/>
    <p:sldId id="331" r:id="rId14"/>
    <p:sldId id="332" r:id="rId15"/>
    <p:sldId id="333" r:id="rId16"/>
    <p:sldId id="334" r:id="rId17"/>
    <p:sldId id="335" r:id="rId18"/>
    <p:sldId id="336" r:id="rId19"/>
    <p:sldId id="337" r:id="rId20"/>
    <p:sldId id="338" r:id="rId21"/>
    <p:sldId id="339" r:id="rId22"/>
    <p:sldId id="340" r:id="rId23"/>
    <p:sldId id="341" r:id="rId24"/>
    <p:sldId id="342" r:id="rId25"/>
    <p:sldId id="34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 autoAdjust="0"/>
    <p:restoredTop sz="86434" autoAdjust="0"/>
  </p:normalViewPr>
  <p:slideViewPr>
    <p:cSldViewPr snapToGrid="0">
      <p:cViewPr varScale="1">
        <p:scale>
          <a:sx n="55" d="100"/>
          <a:sy n="55" d="100"/>
        </p:scale>
        <p:origin x="812" y="48"/>
      </p:cViewPr>
      <p:guideLst/>
    </p:cSldViewPr>
  </p:slideViewPr>
  <p:outlineViewPr>
    <p:cViewPr>
      <p:scale>
        <a:sx n="33" d="100"/>
        <a:sy n="33" d="100"/>
      </p:scale>
      <p:origin x="0" y="-114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12/11/2025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12/11/2025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054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855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8453706" cy="5263722"/>
          </a:xfrm>
        </p:spPr>
        <p:txBody>
          <a:bodyPr>
            <a:normAutofit/>
          </a:bodyPr>
          <a:lstStyle/>
          <a:p>
            <a:r>
              <a:rPr lang="ro-RO" sz="3600" dirty="0"/>
              <a:t>Reproducerea experimentului Rumelhart &amp; McClelland din 1986 pentru verbele din limba rom</a:t>
            </a:r>
            <a:r>
              <a:rPr lang="en-US" sz="3600" dirty="0"/>
              <a:t>a</a:t>
            </a:r>
            <a:r>
              <a:rPr lang="ro-RO" sz="3600" dirty="0"/>
              <a:t>neasc</a:t>
            </a:r>
            <a:r>
              <a:rPr lang="en-US" sz="3600" dirty="0"/>
              <a:t>a</a:t>
            </a:r>
            <a:br>
              <a:rPr lang="en-US" sz="3600" dirty="0"/>
            </a:b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Autori: Albu Victor, Cristescu  Ciprian</a:t>
            </a:r>
            <a:br>
              <a:rPr lang="en-US" sz="2000" dirty="0"/>
            </a:br>
            <a:endParaRPr lang="ro-RO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F0E87-443F-50AB-97A5-29ACFA5B8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506329" cy="5253089"/>
          </a:xfrm>
        </p:spPr>
        <p:txBody>
          <a:bodyPr/>
          <a:lstStyle/>
          <a:p>
            <a:r>
              <a:rPr lang="en-US" dirty="0"/>
              <a:t>Ce s-a facut </a:t>
            </a:r>
            <a:r>
              <a:rPr lang="en-US" dirty="0" err="1"/>
              <a:t>pana</a:t>
            </a:r>
            <a:r>
              <a:rPr lang="en-US" dirty="0"/>
              <a:t> </a:t>
            </a:r>
            <a:r>
              <a:rPr lang="en-US" dirty="0" err="1"/>
              <a:t>acum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937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15063-EDBD-034B-F437-266D47A0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08348" cy="5253089"/>
          </a:xfrm>
        </p:spPr>
        <p:txBody>
          <a:bodyPr>
            <a:normAutofit/>
          </a:bodyPr>
          <a:lstStyle/>
          <a:p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Titlu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"On learning the past tenses of English verbs"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Autori: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David E. Rumelhart &amp; James L. McClelland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1986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Despre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fost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studiu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care 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o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neuronala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conjugari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trecutul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verbelor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fara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programeze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reguli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gramaticale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explicite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introdus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conceptul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"U-shaped learning"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forma de U: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greseli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generalizare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corectare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73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CE525B2-1002-AD46-0961-72D121473A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470153"/>
            <a:ext cx="1066324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Titlu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"On language and connectionism: Analysis of a parallel </a:t>
            </a: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 model of language acquisition“</a:t>
            </a: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Autori: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Steven Pinker &amp; Alan Prince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1988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Despre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Ei au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criticat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dur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Rumelhart. 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face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greșeli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 care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oamenii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nu le fac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intrare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Wickelfeatures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")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 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ciorba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 de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litere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care nu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respecta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structura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cuvantului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Noi am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rezolvat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critica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Pinker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LSTM-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uri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care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pastreaza</a:t>
            </a:r>
            <a:b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ordinea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literelor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spre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deosebire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vechi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8502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A82B-A226-15C8-D84E-A3132D2B9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889101" cy="5253089"/>
          </a:xfrm>
        </p:spPr>
        <p:txBody>
          <a:bodyPr/>
          <a:lstStyle/>
          <a:p>
            <a:r>
              <a:rPr lang="en-US" dirty="0"/>
              <a:t>Ce date am </a:t>
            </a:r>
            <a:r>
              <a:rPr lang="en-US" dirty="0" err="1"/>
              <a:t>folosit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729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FE1C541-8CF2-EC45-D938-59EE9F47C1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839483"/>
            <a:ext cx="10841494" cy="49552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Lipsa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set de date (dataset)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curat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standardizat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pentru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perechile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Infinitiv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-Trecut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limba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română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Solutia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Noastra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Dezvoltarea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Generator de Date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Python.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date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cuvinte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inventate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1.Pentru a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izola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capacitatea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rețelei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a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nvata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reguli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abstracte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2.Dacă am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folosi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riscul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reteaua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memoreze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cuvintele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3.Verbele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inventate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(ex: </a:t>
            </a:r>
            <a:r>
              <a:rPr kumimoji="0" lang="en-US" altLang="en-US" sz="2000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boganiza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nu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există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dicționar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singurul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mod de a le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conjuga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prin</a:t>
            </a: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invătarea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regulii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gramaticale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081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777603E-CAB1-5D67-9371-B6A4185B81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216235"/>
            <a:ext cx="8594597" cy="62016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</a:t>
            </a:r>
            <a:r>
              <a:rPr kumimoji="0" lang="en-US" altLang="en-US" sz="32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1.560 </a:t>
            </a:r>
            <a:r>
              <a:rPr kumimoji="0" lang="en-US" altLang="en-US" sz="32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perechi</a:t>
            </a: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Strategie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Dataset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Echilibrat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aproape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50% - 50%)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8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28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(Reguli)</a:t>
            </a:r>
            <a:br>
              <a:rPr kumimoji="0" lang="en-US" altLang="en-US" sz="28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1" i="0" u="sng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Volum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800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unice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Structura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Rădăcini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generate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aleatoriu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(C-V-C-V)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Reguli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aplicate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70%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Conjugarea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 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-a -&gt; -at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), 30%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Conjugarea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IV 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-&gt; -it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8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Reale </a:t>
            </a:r>
            <a:r>
              <a:rPr kumimoji="0" lang="en-US" altLang="en-US" sz="28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Neregulate</a:t>
            </a:r>
            <a:r>
              <a:rPr kumimoji="0" lang="en-US" altLang="en-US" sz="28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(Memorie)</a:t>
            </a:r>
            <a:b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Volum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19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(ex: 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fi, a 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avea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Le-am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multiplicat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40 de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ori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207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E3222-F640-C26F-8798-FCC85686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82776" cy="5253089"/>
          </a:xfrm>
        </p:spPr>
        <p:txBody>
          <a:bodyPr>
            <a:normAutofit fontScale="90000"/>
          </a:bodyPr>
          <a:lstStyle/>
          <a:p>
            <a:r>
              <a:rPr lang="en-US" dirty="0"/>
              <a:t>Cum le-am </a:t>
            </a:r>
            <a:r>
              <a:rPr lang="en-US" dirty="0" err="1"/>
              <a:t>procesat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cuvant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reprezentat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o lista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-o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functie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 care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transforma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caracter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-un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numar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Lungimea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astfel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 de 15. Daca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cuvantul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mic se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completa lista cu 0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elmentul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15.</a:t>
            </a:r>
            <a:br>
              <a:rPr lang="en-US" dirty="0"/>
            </a:br>
            <a:br>
              <a:rPr lang="en-US" dirty="0"/>
            </a:br>
            <a:r>
              <a:rPr lang="en-US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Exemplu</a:t>
            </a: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[‘m’, ‘a’, ‘n’, ‘c’, ‘a’] -&gt; [14,  2, 15, 4, 2, 0, 0, …0]</a:t>
            </a:r>
          </a:p>
        </p:txBody>
      </p:sp>
    </p:spTree>
    <p:extLst>
      <p:ext uri="{BB962C8B-B14F-4D97-AF65-F5344CB8AC3E}">
        <p14:creationId xmlns:p14="http://schemas.microsoft.com/office/powerpoint/2010/main" val="84333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D947-ED72-DEF7-A771-4AD64FEE7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644552" cy="525308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 descr="A white board with red and blue text">
            <a:extLst>
              <a:ext uri="{FF2B5EF4-FFF2-40B4-BE49-F238E27FC236}">
                <a16:creationId xmlns:a16="http://schemas.microsoft.com/office/drawing/2014/main" id="{BAC96ABA-1B6E-BBC8-C4C7-340539643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615" y="1541722"/>
            <a:ext cx="9644552" cy="266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9395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F1BB-5215-54D8-102D-1B0F2FE6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 pentru </a:t>
            </a:r>
            <a:r>
              <a:rPr lang="en-US" dirty="0" err="1"/>
              <a:t>generarea</a:t>
            </a:r>
            <a:r>
              <a:rPr lang="en-US" dirty="0"/>
              <a:t> de </a:t>
            </a:r>
            <a:r>
              <a:rPr lang="en-US" dirty="0" err="1"/>
              <a:t>verbe</a:t>
            </a:r>
            <a:r>
              <a:rPr lang="en-US" dirty="0"/>
              <a:t>:</a:t>
            </a:r>
          </a:p>
        </p:txBody>
      </p:sp>
      <p:pic>
        <p:nvPicPr>
          <p:cNvPr id="6" name="Content Placeholder 5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57B4BB4A-35AF-FAF4-D8AD-1CB98A20B192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6388100" y="995423"/>
            <a:ext cx="4449763" cy="483821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207C5-4A94-A799-D3C1-1488C61C9F6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349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5A114-F53D-D60D-7A6D-F25B053BE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59357" cy="5253089"/>
          </a:xfrm>
        </p:spPr>
        <p:txBody>
          <a:bodyPr/>
          <a:lstStyle/>
          <a:p>
            <a:r>
              <a:rPr lang="en-US" dirty="0"/>
              <a:t>Ce model am </a:t>
            </a:r>
            <a:r>
              <a:rPr lang="en-US" dirty="0" err="1"/>
              <a:t>folosit</a:t>
            </a:r>
            <a:r>
              <a:rPr lang="en-US" dirty="0"/>
              <a:t>?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613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D067A-1E5E-1BCB-86EE-4B4EA0DE4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70932" cy="5253089"/>
          </a:xfrm>
        </p:spPr>
        <p:txBody>
          <a:bodyPr>
            <a:noAutofit/>
          </a:bodyPr>
          <a:lstStyle/>
          <a:p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Bază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(1986):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Feed-Forward Network (MLP).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Aplatizează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cuvântul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-un vector static.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Reproduce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limitarile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abordării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originale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Rumelhart.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194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DB1E5-C127-09CB-44A9-B1CBB1F8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851955" cy="5253089"/>
          </a:xfrm>
        </p:spPr>
        <p:txBody>
          <a:bodyPr>
            <a:no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Propus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Bidirecțional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Arhitectură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 (64 dim):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Reprezentare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caracterelor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Bi-LSTM (128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unități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Procesează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secvența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ambele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sensuri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esential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deoarece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conjugarea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romana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engleza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Dropout (0.3):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Previne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memorarea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mecanică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492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85B0-84E0-AE8C-2FB2-38950D6D3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0764" y="802455"/>
            <a:ext cx="9747782" cy="5253089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Proiectul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demonstrează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eficiența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algoritmilor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recurenți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seturi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date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("Small Data"):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Platformă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(Cloud).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NVIDIA T4 Tensor Core (16GB VRAM - Free Tier).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Consum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Resurse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VRAM: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1 GB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utilizat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(Model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foarte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ușor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Timp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Antrenare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~1-2 minute pentru 100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epoci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1.560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56620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17DE-6C2C-CADA-326A-B8FDB9F8D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01484" cy="5253089"/>
          </a:xfrm>
        </p:spPr>
        <p:txBody>
          <a:bodyPr>
            <a:normAutofit fontScale="90000"/>
          </a:bodyPr>
          <a:lstStyle/>
          <a:p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Veche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(MLP):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Aceasta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lipește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un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panou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locuri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fixe.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poziție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decalat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recunoaște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tiparul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pentru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înțelege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ordinea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poziția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fixă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Nouă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(LSTM -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Propunerea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noastră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deosebire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veche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LSTM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secvențial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exact cum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citim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Dar face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plus: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leagă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literele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Cand LSTM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doua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ține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văzut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prima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Astfel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înțelege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contextul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știe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'A'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venit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după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'M'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impreuna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formează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silabă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Aceasta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recunoască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radacina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verbului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indiferent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află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propozitie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."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1822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00102-9411-0687-0005-67D63E7FD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Comparatii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19725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8C07F-69BA-41BC-FC24-2E530E1A8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620461" cy="5253089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LSTM(</a:t>
            </a: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grafice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invatare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5" name="Picture 4" descr="A graph of a train act and an employee&#10;&#10;AI-generated content may be incorrect.">
            <a:extLst>
              <a:ext uri="{FF2B5EF4-FFF2-40B4-BE49-F238E27FC236}">
                <a16:creationId xmlns:a16="http://schemas.microsoft.com/office/drawing/2014/main" id="{C9B084F8-C96D-8165-6541-919A99C1D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615" y="690511"/>
            <a:ext cx="8970282" cy="412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10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530F-307A-6C89-D57A-021D8E2A8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916442" cy="525308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 descr="A graph with a line&#10;&#10;AI-generated content may be incorrect.">
            <a:extLst>
              <a:ext uri="{FF2B5EF4-FFF2-40B4-BE49-F238E27FC236}">
                <a16:creationId xmlns:a16="http://schemas.microsoft.com/office/drawing/2014/main" id="{1300F92F-2BFA-9C38-D78E-A7EBECD01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271" y="1398908"/>
            <a:ext cx="9235458" cy="429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97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D2B40-5EFD-DA0A-7CFC-BC44FA648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572058" cy="5253089"/>
          </a:xfrm>
        </p:spPr>
        <p:txBody>
          <a:bodyPr>
            <a:normAutofit/>
          </a:bodyPr>
          <a:lstStyle/>
          <a:p>
            <a:r>
              <a:rPr lang="en-US" sz="3600" dirty="0" err="1"/>
              <a:t>Rezultate</a:t>
            </a:r>
            <a:r>
              <a:rPr lang="en-US" sz="3600" dirty="0"/>
              <a:t> teste:</a:t>
            </a:r>
          </a:p>
        </p:txBody>
      </p:sp>
      <p:pic>
        <p:nvPicPr>
          <p:cNvPr id="4" name="Picture 3" descr="A computer code with black text&#10;&#10;AI-generated content may be incorrect.">
            <a:extLst>
              <a:ext uri="{FF2B5EF4-FFF2-40B4-BE49-F238E27FC236}">
                <a16:creationId xmlns:a16="http://schemas.microsoft.com/office/drawing/2014/main" id="{E7D8E11A-2126-883A-035E-31EBCFD74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638" y="1223158"/>
            <a:ext cx="7086724" cy="338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156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38499-5360-111A-944A-323392BF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833315" cy="525308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C409B3-1D09-3F54-6931-A0A230EA8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614" y="1911928"/>
            <a:ext cx="9833315" cy="138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7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E67E1-3CE3-F448-CC87-53A962135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10023320" cy="5253089"/>
          </a:xfrm>
        </p:spPr>
        <p:txBody>
          <a:bodyPr/>
          <a:lstStyle/>
          <a:p>
            <a:r>
              <a:rPr lang="en-US" dirty="0" err="1"/>
              <a:t>Modelul</a:t>
            </a:r>
            <a:r>
              <a:rPr lang="en-US" dirty="0"/>
              <a:t> </a:t>
            </a:r>
            <a:r>
              <a:rPr lang="en-US" dirty="0" err="1"/>
              <a:t>vechi</a:t>
            </a:r>
            <a:r>
              <a:rPr lang="en-US" dirty="0"/>
              <a:t>:</a:t>
            </a:r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FB3D420-D7B7-BF48-2C6F-B27010243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552" y="1481137"/>
            <a:ext cx="6451952" cy="273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201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D741-5B87-0182-43D9-3F3622149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608886" cy="5253089"/>
          </a:xfrm>
        </p:spPr>
        <p:txBody>
          <a:bodyPr>
            <a:norm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nostru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conjugat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corect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cuvantul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inventat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boganiza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in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boganizat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”. 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Asta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dovedeste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a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regula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exact cum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propus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Rumelhart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McClelland.</a:t>
            </a:r>
          </a:p>
        </p:txBody>
      </p:sp>
    </p:spTree>
    <p:extLst>
      <p:ext uri="{BB962C8B-B14F-4D97-AF65-F5344CB8AC3E}">
        <p14:creationId xmlns:p14="http://schemas.microsoft.com/office/powerpoint/2010/main" val="196025891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{55F8611C-A8DE-4218-B3F7-35A4E7142017}TF3977e381-cba5-49b1-ba43-b5d865517af907ebbda9_win32-372d4d6ae720</Template>
  <TotalTime>292</TotalTime>
  <Words>951</Words>
  <Application>Microsoft Office PowerPoint</Application>
  <PresentationFormat>Widescreen</PresentationFormat>
  <Paragraphs>37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Times New Roman</vt:lpstr>
      <vt:lpstr>Tisa Offc Serif Pro</vt:lpstr>
      <vt:lpstr>Univers Light</vt:lpstr>
      <vt:lpstr>Custom</vt:lpstr>
      <vt:lpstr>Reproducerea experimentului Rumelhart &amp; McClelland din 1986 pentru verbele din limba romaneasca   Autori: Albu Victor, Cristescu  Ciprian </vt:lpstr>
      <vt:lpstr>Ce s-a facut pana acum?   </vt:lpstr>
      <vt:lpstr>Titlu: "On learning the past tenses of English verbs"   Autori: David E. Rumelhart &amp; James L. McClelland  An: 1986   Despre ce e: A fost primul studiu care a demonstrat ca o retea neuronala poate invata conjugari (trecutul verbelor) fara sa i se programeze reguli gramaticale explicite.   A introdus conceptul de "U-shaped learning" (invatare in forma de U: memorare -&gt; greseli de generalizare -&gt; corectare). </vt:lpstr>
      <vt:lpstr>Titlu: "On language and connectionism: Analysis of a parallel  distributed processing model of language acquisition“  Autori: Steven Pinker &amp; Alan Prince An: 1988  Despre ce e: Ei au criticat dur modelul lui Rumelhart.  Au spus că rețeaua face greșeli pe care oamenii nu le fac și că modelul  de intrare ("Wickelfeatures") este o "ciorba" de litere care nu respecta  structura cuvantului.  Noi am rezolvat critica lui Pinker folosind LSTM-uri, care pastreaza  ordinea literelor, spre deosebire de modelul vechi.</vt:lpstr>
      <vt:lpstr>Ce date am folosit?   </vt:lpstr>
      <vt:lpstr>Problema: Lipsa unui set de date (dataset) curat și standardizat pentru perechile  Infinitiv-Trecut în limba română.   Solutia Noastra: Dezvoltarea unui Generator de Date Sintetice în Python.  De ce date sintetice(cuvinte inventate)?  1.Pentru a izola capacitatea rețelei de a invata reguli abstracte.  2.Dacă am folosi doar verbe reale, ar exista riscul ca reteaua sa memoreze pur și simplu cuvintele.  3.Verbele inventate (ex: boganiza) nu există în dicționar, deci singurul mod de a le conjuga este prin  invătarea regulii gramaticale. </vt:lpstr>
      <vt:lpstr>Total Exemple: 1.560 perechi   Strategie: Dataset Echilibrat (aproape 50% - 50%)  Verbe Sintetice (Reguli)  1. Volum: 800 exemple unice.  2. Structura: Rădăcini generate aleatoriu (C-V-C-V)  3. Reguli aplicate: 70% Conjugarea I (-a -&gt; -at), 30% Conjugarea IV (-i -&gt; -it)  Verbe Reale Neregulate (Memorie)  1. Volum: 19 verbe (ex: a fi, a avea, a bea)  2. Le-am multiplicat de 40 de ori fiecare.</vt:lpstr>
      <vt:lpstr>Cum le-am procesat?  Fiecare cuvant este reprezentat de o lista de numere printr-o functie hash care transforma fiecare caracter intr-un numar.  Lungimea unei astfel de liste va fi de 15. Daca cuvantul este prea mic se va completa lista cu 0 pana la elmentul 15.  Exemplu:  [‘m’, ‘a’, ‘n’, ‘c’, ‘a’] -&gt; [14,  2, 15, 4, 2, 0, 0, …0]</vt:lpstr>
      <vt:lpstr>PowerPoint Presentation</vt:lpstr>
      <vt:lpstr>Cod pentru generarea de verbe:</vt:lpstr>
      <vt:lpstr>Ce model am folosit? </vt:lpstr>
      <vt:lpstr>Modelul de Bază (1986):    Feed-Forward Network (MLP).    Aplatizează cuvântul intr-un vector static.  Scop: Reproduce limitarile abordării originale a lui Rumelhart. </vt:lpstr>
      <vt:lpstr>Modelul Propus de noi:   LSTM Bidirecțional.   Arhitectură:  Embedding (64 dim): Reprezentare densă a caracterelor.  Bi-LSTM (128 unități): Procesează secvența în ambele sensuri -&gt; este esential deoarece conjugarea in romana este mult mai grea ca cea din engleza  Dropout (0.3): Previne memorarea mecanică. </vt:lpstr>
      <vt:lpstr>Hardware  Proiectul demonstrează eficiența algoritmilor recurenți pe seturi de date mici ("Small Data"):  Platformă: Google Colab (Cloud).  GPU: NVIDIA T4 Tensor Core (16GB VRAM - Free Tier).  Consum Resurse:  VRAM: &lt; 1 GB utilizat (Model foarte ușor).  Timp Antrenare: ~1-2 minute pentru 100 de epoci (pe datasetul de 1.560 exemple). </vt:lpstr>
      <vt:lpstr>Metoda Veche (MLP):  Aceasta ia cuvântul și îl lipește pe un panou cu locuri fixe. Rețeaua vede doar o poziție statică.  Dacă un cuvânt este decalat cu o literă, rețeaua nu mai recunoaște tiparul, pentru că nu înțelege ordinea, ci doar poziția fixă.   Metoda Nouă (LSTM - Propunerea noastră):  Spre deosebire de metoda veche, LSTM citește secvențial, literă cu literă, exact cum citim noi.  Dar face ceva în plus: leagă literele intre ele.  Cand LSTM citește a doua literă, el ține minte și ce a văzut la prima literă.  Astfel, el înțelege contextul: știe că litera 'A' a venit după litera 'M' și că impreuna formează o silabă. Aceasta “memorie” îi permite să recunoască radacina verbului indiferent unde se află ea în propozitie." </vt:lpstr>
      <vt:lpstr>Comparatii: </vt:lpstr>
      <vt:lpstr>Modelul LSTM(grafice de invatare)</vt:lpstr>
      <vt:lpstr>PowerPoint Presentation</vt:lpstr>
      <vt:lpstr>Rezultate teste:</vt:lpstr>
      <vt:lpstr>PowerPoint Presentation</vt:lpstr>
      <vt:lpstr>Modelul vechi:</vt:lpstr>
      <vt:lpstr>Modelul nostru a conjugat corect cuvantul inventat “boganiza” in “boganizat”.   Asta dovedeste ca a invatat regula, exact cum si-au propus Rumelhart și McClelland.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</dc:creator>
  <cp:lastModifiedBy>Victor</cp:lastModifiedBy>
  <cp:revision>3</cp:revision>
  <dcterms:created xsi:type="dcterms:W3CDTF">2025-12-11T09:25:52Z</dcterms:created>
  <dcterms:modified xsi:type="dcterms:W3CDTF">2025-12-11T14:19:05Z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