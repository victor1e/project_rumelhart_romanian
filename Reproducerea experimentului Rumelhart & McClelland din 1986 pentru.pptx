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22" r:id="rId5"/>
    <p:sldId id="324" r:id="rId6"/>
    <p:sldId id="323" r:id="rId7"/>
    <p:sldId id="325" r:id="rId8"/>
    <p:sldId id="326" r:id="rId9"/>
    <p:sldId id="327" r:id="rId10"/>
    <p:sldId id="328" r:id="rId11"/>
    <p:sldId id="329" r:id="rId12"/>
    <p:sldId id="345" r:id="rId13"/>
    <p:sldId id="331" r:id="rId14"/>
    <p:sldId id="344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86434" autoAdjust="0"/>
  </p:normalViewPr>
  <p:slideViewPr>
    <p:cSldViewPr snapToGrid="0">
      <p:cViewPr varScale="1">
        <p:scale>
          <a:sx n="55" d="100"/>
          <a:sy n="55" d="100"/>
        </p:scale>
        <p:origin x="812" y="60"/>
      </p:cViewPr>
      <p:guideLst/>
    </p:cSldViewPr>
  </p:slideViewPr>
  <p:outlineViewPr>
    <p:cViewPr>
      <p:scale>
        <a:sx n="33" d="100"/>
        <a:sy n="33" d="100"/>
      </p:scale>
      <p:origin x="0" y="-114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5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8453706" cy="5263722"/>
          </a:xfrm>
        </p:spPr>
        <p:txBody>
          <a:bodyPr>
            <a:normAutofit/>
          </a:bodyPr>
          <a:lstStyle/>
          <a:p>
            <a:r>
              <a:rPr lang="ro-RO" sz="3600" dirty="0"/>
              <a:t>Reproducerea experimentului Rumelhart &amp; McClelland din 1986 pentru verbele din limba rom</a:t>
            </a:r>
            <a:r>
              <a:rPr lang="en-US" sz="3600" dirty="0"/>
              <a:t>a</a:t>
            </a:r>
            <a:r>
              <a:rPr lang="ro-RO" sz="3600" dirty="0"/>
              <a:t>neasc</a:t>
            </a:r>
            <a:r>
              <a:rPr lang="en-US" sz="3600" dirty="0"/>
              <a:t>a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000" dirty="0"/>
              <a:t>Autori: Albu Victor, Cristescu  Ciprian</a:t>
            </a:r>
            <a:br>
              <a:rPr lang="en-US" sz="2000" dirty="0"/>
            </a:br>
            <a:endParaRPr lang="ro-R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0E87-443F-50AB-97A5-29ACFA5B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506329" cy="5253089"/>
          </a:xfrm>
        </p:spPr>
        <p:txBody>
          <a:bodyPr/>
          <a:lstStyle/>
          <a:p>
            <a:r>
              <a:rPr lang="en-US" dirty="0"/>
              <a:t>Ce s-a facut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acum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93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5063-EDBD-034B-F437-266D47A0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08348" cy="5253089"/>
          </a:xfrm>
        </p:spPr>
        <p:txBody>
          <a:bodyPr>
            <a:norm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"On learning the past tenses of English verbs"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David E. Rumelhart &amp; James L. McClelland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1986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Despre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fost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trecutul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verbelor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programeze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gramaticale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"U-shaped learning"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forma de U: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greseli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3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CE525B2-1002-AD46-0961-72D121473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470153"/>
            <a:ext cx="1066324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"On language and connectionism: Analysis of a parallel </a:t>
            </a: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model of language acquisition“</a:t>
            </a: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Autori: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Steven Pinker &amp; Alan Prince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1988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Despre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Ei au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Rumelhart.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greșeli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oamenii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 le fac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Wickelfeatures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ciorba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care nu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respecta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cuvantului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 am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rezolvat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Pinker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LSTM-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pastreaza</a:t>
            </a:r>
            <a:b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ordinea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literelor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deosebire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vechi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850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A82B-A226-15C8-D84E-A3132D2B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889101" cy="5253089"/>
          </a:xfrm>
        </p:spPr>
        <p:txBody>
          <a:bodyPr/>
          <a:lstStyle/>
          <a:p>
            <a:r>
              <a:rPr lang="en-US" dirty="0"/>
              <a:t>Ce date am </a:t>
            </a:r>
            <a:r>
              <a:rPr lang="en-US" dirty="0" err="1"/>
              <a:t>folosit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2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FE1C541-8CF2-EC45-D938-59EE9F47C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839483"/>
            <a:ext cx="10841494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Lipsa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de date (dataset)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curat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pentru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perechile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Infinitiv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-Trecut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limba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română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Noastra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Generator de Date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inventate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1.Pentru 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izola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capacitatea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nvata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2.Dacă am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folosi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riscul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reteaua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3.Verbele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inventate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(ex: 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boganiza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nu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dicționar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singurul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 de a 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conjuga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invătarea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regulii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gramaticale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081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777603E-CAB1-5D67-9371-B6A4185B8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4557" y="691284"/>
            <a:ext cx="5576911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kumimoji="0" lang="en-US" altLang="en-US" sz="3200" b="1" i="0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15.0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altLang="en-US" sz="3200" b="1" i="0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1A33FA-FE0D-C155-55C9-A3B1250DF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78" y="1630004"/>
            <a:ext cx="1323850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(Reguli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2.000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radacini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aleatoriu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respectand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fonotactica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limbii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romane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C-V-C).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verb are 7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Participiu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+ 6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persoane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Imperfect).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Diversitate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Acoperă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conjugari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 la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alternante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fonetice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/-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Reale (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Excepții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/Memorie):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neregulate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frecvente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fi, a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vrea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multiplicate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setul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antrenament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pentru 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reteaua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20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3222-F640-C26F-8798-FCC85686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82776" cy="5253089"/>
          </a:xfrm>
        </p:spPr>
        <p:txBody>
          <a:bodyPr>
            <a:normAutofit fontScale="90000"/>
          </a:bodyPr>
          <a:lstStyle/>
          <a:p>
            <a:r>
              <a:rPr lang="en-US" dirty="0"/>
              <a:t>Cum le-am </a:t>
            </a:r>
            <a:r>
              <a:rPr lang="en-US" dirty="0" err="1"/>
              <a:t>procesat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cuvant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 lista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Lungimea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de 20. Daca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cuvantul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 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completa lista cu 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elmentul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20.</a:t>
            </a:r>
            <a:br>
              <a:rPr lang="en-US" dirty="0"/>
            </a:br>
            <a:br>
              <a:rPr lang="en-US" dirty="0"/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[‘m’, ‘a’, ‘n’, ‘c’, ‘a’] -&gt; [14,  2, 15, 4, 2, 0, 0, …0]</a:t>
            </a:r>
          </a:p>
        </p:txBody>
      </p:sp>
    </p:spTree>
    <p:extLst>
      <p:ext uri="{BB962C8B-B14F-4D97-AF65-F5344CB8AC3E}">
        <p14:creationId xmlns:p14="http://schemas.microsoft.com/office/powerpoint/2010/main" val="8433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9FE120-98F2-E1AF-66E0-DC029F3D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33" y="68263"/>
            <a:ext cx="9820472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881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F1BB-5215-54D8-102D-1B0F2FE65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436194" cy="5407091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Generare</a:t>
            </a:r>
            <a:r>
              <a:rPr lang="en-US" dirty="0"/>
              <a:t> Dataset</a:t>
            </a:r>
            <a:br>
              <a:rPr lang="en-US" dirty="0"/>
            </a:br>
            <a:br>
              <a:rPr lang="en-US" sz="2400" dirty="0"/>
            </a:br>
            <a:r>
              <a:rPr lang="en-US" dirty="0" err="1"/>
              <a:t>Structura</a:t>
            </a:r>
            <a:r>
              <a:rPr lang="en-US" dirty="0"/>
              <a:t>:</a:t>
            </a:r>
            <a:br>
              <a:rPr lang="en-US" dirty="0"/>
            </a:br>
            <a:br>
              <a:rPr lang="en-US" sz="2800" dirty="0"/>
            </a:br>
            <a:r>
              <a:rPr lang="en-US" altLang="en-US" sz="2200" dirty="0">
                <a:latin typeface="Arial" panose="020B0604020202020204" pitchFamily="34" charset="0"/>
              </a:rPr>
              <a:t>Am </a:t>
            </a:r>
            <a:r>
              <a:rPr lang="en-US" altLang="en-US" sz="2200" dirty="0" err="1">
                <a:latin typeface="Arial" panose="020B0604020202020204" pitchFamily="34" charset="0"/>
              </a:rPr>
              <a:t>implementat</a:t>
            </a:r>
            <a:r>
              <a:rPr lang="en-US" altLang="en-US" sz="2200" dirty="0">
                <a:latin typeface="Arial" panose="020B0604020202020204" pitchFamily="34" charset="0"/>
              </a:rPr>
              <a:t> un </a:t>
            </a:r>
            <a:r>
              <a:rPr lang="en-US" altLang="en-US" sz="2200" dirty="0" err="1">
                <a:latin typeface="Arial" panose="020B0604020202020204" pitchFamily="34" charset="0"/>
              </a:rPr>
              <a:t>algoritm</a:t>
            </a:r>
            <a:r>
              <a:rPr lang="en-US" altLang="en-US" sz="2200" dirty="0">
                <a:latin typeface="Arial" panose="020B0604020202020204" pitchFamily="34" charset="0"/>
              </a:rPr>
              <a:t> care </a:t>
            </a:r>
            <a:r>
              <a:rPr lang="en-US" altLang="en-US" sz="2200" dirty="0" err="1">
                <a:latin typeface="Arial" panose="020B0604020202020204" pitchFamily="34" charset="0"/>
              </a:rPr>
              <a:t>respectă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structura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silabică</a:t>
            </a:r>
            <a:r>
              <a:rPr lang="en-US" altLang="en-US" sz="2200" dirty="0">
                <a:latin typeface="Arial" panose="020B0604020202020204" pitchFamily="34" charset="0"/>
              </a:rPr>
              <a:t> a </a:t>
            </a:r>
            <a:r>
              <a:rPr lang="en-US" altLang="en-US" sz="2200" dirty="0" err="1">
                <a:latin typeface="Arial" panose="020B0604020202020204" pitchFamily="34" charset="0"/>
              </a:rPr>
              <a:t>limbii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române</a:t>
            </a:r>
            <a:r>
              <a:rPr lang="en-US" altLang="en-US" sz="2200" dirty="0">
                <a:latin typeface="Arial" panose="020B0604020202020204" pitchFamily="34" charset="0"/>
              </a:rPr>
              <a:t>: </a:t>
            </a:r>
            <a:r>
              <a:rPr lang="en-US" altLang="en-US" sz="2200" b="1" dirty="0">
                <a:latin typeface="Arial" panose="020B0604020202020204" pitchFamily="34" charset="0"/>
              </a:rPr>
              <a:t>C-V</a:t>
            </a:r>
            <a:r>
              <a:rPr lang="en-US" altLang="en-US" sz="2200" dirty="0">
                <a:latin typeface="Arial" panose="020B0604020202020204" pitchFamily="34" charset="0"/>
              </a:rPr>
              <a:t> (</a:t>
            </a:r>
            <a:r>
              <a:rPr lang="en-US" altLang="en-US" sz="2200" dirty="0" err="1">
                <a:latin typeface="Arial" panose="020B0604020202020204" pitchFamily="34" charset="0"/>
              </a:rPr>
              <a:t>Consoană-Vocală</a:t>
            </a:r>
            <a:r>
              <a:rPr lang="en-US" altLang="en-US" sz="2200" dirty="0">
                <a:latin typeface="Arial" panose="020B0604020202020204" pitchFamily="34" charset="0"/>
              </a:rPr>
              <a:t>) </a:t>
            </a:r>
            <a:r>
              <a:rPr lang="en-US" altLang="en-US" sz="2200" dirty="0" err="1">
                <a:latin typeface="Arial" panose="020B0604020202020204" pitchFamily="34" charset="0"/>
              </a:rPr>
              <a:t>sau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b="1" dirty="0">
                <a:latin typeface="Arial" panose="020B0604020202020204" pitchFamily="34" charset="0"/>
              </a:rPr>
              <a:t>C-C-V</a:t>
            </a:r>
            <a:r>
              <a:rPr lang="en-US" altLang="en-US" sz="2200" dirty="0">
                <a:latin typeface="Arial" panose="020B0604020202020204" pitchFamily="34" charset="0"/>
              </a:rPr>
              <a:t> (pentru </a:t>
            </a:r>
            <a:r>
              <a:rPr lang="en-US" altLang="en-US" sz="2200" dirty="0" err="1">
                <a:latin typeface="Arial" panose="020B0604020202020204" pitchFamily="34" charset="0"/>
              </a:rPr>
              <a:t>grupuri</a:t>
            </a:r>
            <a:r>
              <a:rPr lang="en-US" altLang="en-US" sz="2200" dirty="0">
                <a:latin typeface="Arial" panose="020B0604020202020204" pitchFamily="34" charset="0"/>
              </a:rPr>
              <a:t> precum </a:t>
            </a:r>
            <a:r>
              <a:rPr lang="en-US" altLang="en-US" sz="2200" i="1" dirty="0">
                <a:latin typeface="Arial" panose="020B0604020202020204" pitchFamily="34" charset="0"/>
              </a:rPr>
              <a:t>tr, pr, bl</a:t>
            </a:r>
            <a:r>
              <a:rPr lang="en-US" altLang="en-US" sz="2200" dirty="0">
                <a:latin typeface="Arial" panose="020B0604020202020204" pitchFamily="34" charset="0"/>
              </a:rPr>
              <a:t>).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r>
              <a:rPr lang="en-US" altLang="en-US" sz="2200" dirty="0" err="1">
                <a:latin typeface="Arial" panose="020B0604020202020204" pitchFamily="34" charset="0"/>
              </a:rPr>
              <a:t>Selectează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aleatoriu</a:t>
            </a:r>
            <a:r>
              <a:rPr lang="en-US" altLang="en-US" sz="2200" dirty="0">
                <a:latin typeface="Arial" panose="020B0604020202020204" pitchFamily="34" charset="0"/>
              </a:rPr>
              <a:t> o </a:t>
            </a:r>
            <a:r>
              <a:rPr lang="en-US" altLang="en-US" sz="2200" dirty="0" err="1">
                <a:latin typeface="Arial" panose="020B0604020202020204" pitchFamily="34" charset="0"/>
              </a:rPr>
              <a:t>radacina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valida</a:t>
            </a:r>
            <a:r>
              <a:rPr lang="en-US" altLang="en-US" sz="2200" dirty="0">
                <a:latin typeface="Arial" panose="020B0604020202020204" pitchFamily="34" charset="0"/>
              </a:rPr>
              <a:t> (ex: </a:t>
            </a:r>
            <a:r>
              <a:rPr lang="en-US" altLang="en-US" sz="2200" i="1" dirty="0" err="1">
                <a:latin typeface="Arial" panose="020B0604020202020204" pitchFamily="34" charset="0"/>
              </a:rPr>
              <a:t>bogan</a:t>
            </a:r>
            <a:r>
              <a:rPr lang="en-US" altLang="en-US" sz="2200" i="1" dirty="0">
                <a:latin typeface="Arial" panose="020B0604020202020204" pitchFamily="34" charset="0"/>
              </a:rPr>
              <a:t>-</a:t>
            </a:r>
            <a:r>
              <a:rPr lang="en-US" altLang="en-US" sz="2200" dirty="0">
                <a:latin typeface="Arial" panose="020B0604020202020204" pitchFamily="34" charset="0"/>
              </a:rPr>
              <a:t>, </a:t>
            </a:r>
            <a:r>
              <a:rPr lang="en-US" altLang="en-US" sz="2200" i="1" dirty="0" err="1">
                <a:latin typeface="Arial" panose="020B0604020202020204" pitchFamily="34" charset="0"/>
              </a:rPr>
              <a:t>snorp</a:t>
            </a:r>
            <a:r>
              <a:rPr lang="en-US" altLang="en-US" sz="2200" i="1" dirty="0">
                <a:latin typeface="Arial" panose="020B0604020202020204" pitchFamily="34" charset="0"/>
              </a:rPr>
              <a:t>-</a:t>
            </a:r>
            <a:r>
              <a:rPr lang="en-US" altLang="en-US" sz="2200" dirty="0">
                <a:latin typeface="Arial" panose="020B0604020202020204" pitchFamily="34" charset="0"/>
              </a:rPr>
              <a:t>) </a:t>
            </a:r>
            <a:r>
              <a:rPr lang="en-US" altLang="en-US" sz="2200" dirty="0" err="1">
                <a:latin typeface="Arial" panose="020B0604020202020204" pitchFamily="34" charset="0"/>
              </a:rPr>
              <a:t>folosind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liste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predefinite</a:t>
            </a:r>
            <a:r>
              <a:rPr lang="en-US" altLang="en-US" sz="2200" dirty="0">
                <a:latin typeface="Arial" panose="020B0604020202020204" pitchFamily="34" charset="0"/>
              </a:rPr>
              <a:t> de </a:t>
            </a:r>
            <a:r>
              <a:rPr lang="en-US" altLang="en-US" sz="2200" dirty="0" err="1">
                <a:latin typeface="Arial" panose="020B0604020202020204" pitchFamily="34" charset="0"/>
              </a:rPr>
              <a:t>consoane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și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vocale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r>
              <a:rPr lang="en-US" altLang="en-US" sz="2200" dirty="0" err="1">
                <a:latin typeface="Arial" panose="020B0604020202020204" pitchFamily="34" charset="0"/>
              </a:rPr>
              <a:t>Cuvintele</a:t>
            </a:r>
            <a:r>
              <a:rPr lang="en-US" altLang="en-US" sz="2200" dirty="0">
                <a:latin typeface="Arial" panose="020B0604020202020204" pitchFamily="34" charset="0"/>
              </a:rPr>
              <a:t> nu </a:t>
            </a:r>
            <a:r>
              <a:rPr lang="en-US" altLang="en-US" sz="2200" dirty="0" err="1">
                <a:latin typeface="Arial" panose="020B0604020202020204" pitchFamily="34" charset="0"/>
              </a:rPr>
              <a:t>exista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în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dictionar</a:t>
            </a:r>
            <a:r>
              <a:rPr lang="en-US" altLang="en-US" sz="2200" dirty="0">
                <a:latin typeface="Arial" panose="020B0604020202020204" pitchFamily="34" charset="0"/>
              </a:rPr>
              <a:t>, </a:t>
            </a:r>
            <a:r>
              <a:rPr lang="en-US" altLang="en-US" sz="2200" dirty="0" err="1">
                <a:latin typeface="Arial" panose="020B0604020202020204" pitchFamily="34" charset="0"/>
              </a:rPr>
              <a:t>dar</a:t>
            </a:r>
            <a:r>
              <a:rPr lang="en-US" altLang="en-US" sz="2200" dirty="0">
                <a:latin typeface="Arial" panose="020B0604020202020204" pitchFamily="34" charset="0"/>
              </a:rPr>
              <a:t> sunt </a:t>
            </a:r>
            <a:r>
              <a:rPr lang="en-US" altLang="en-US" sz="2200" dirty="0" err="1">
                <a:latin typeface="Arial" panose="020B0604020202020204" pitchFamily="34" charset="0"/>
              </a:rPr>
              <a:t>pronunțabile</a:t>
            </a:r>
            <a:r>
              <a:rPr lang="en-US" altLang="en-US" sz="2200" dirty="0">
                <a:latin typeface="Arial" panose="020B0604020202020204" pitchFamily="34" charset="0"/>
              </a:rPr>
              <a:t> (ex: </a:t>
            </a:r>
            <a:r>
              <a:rPr lang="en-US" altLang="en-US" sz="2200" i="1" dirty="0">
                <a:latin typeface="Arial" panose="020B0604020202020204" pitchFamily="34" charset="0"/>
              </a:rPr>
              <a:t>a </a:t>
            </a:r>
            <a:r>
              <a:rPr lang="en-US" altLang="en-US" sz="2200" i="1" dirty="0" err="1">
                <a:latin typeface="Arial" panose="020B0604020202020204" pitchFamily="34" charset="0"/>
              </a:rPr>
              <a:t>boganiza</a:t>
            </a:r>
            <a:r>
              <a:rPr lang="en-US" altLang="en-US" sz="2200" dirty="0">
                <a:latin typeface="Arial" panose="020B0604020202020204" pitchFamily="34" charset="0"/>
              </a:rPr>
              <a:t>).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800" dirty="0">
                <a:latin typeface="Arial" panose="020B0604020202020204" pitchFamily="34" charset="0"/>
              </a:rPr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207C5-4A94-A799-D3C1-1488C61C9F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6F601C-FF75-BF26-9B94-AAAF9D6017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067816" y="4791919"/>
            <a:ext cx="467257" cy="6925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4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3B2166-0020-8D8C-D5D8-F67C14E75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1054928"/>
            <a:ext cx="101491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Participiu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Adaugare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-at, -it,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Alternante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fonetice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sufixul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modifică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terminațiile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-s).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Imperfect: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paradigma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completa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Persoanele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1-6) pentru a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nva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acordul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subiect-predicat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distinga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sufixele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diftong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eam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63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A114-F53D-D60D-7A6D-F25B053B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59357" cy="5253089"/>
          </a:xfrm>
        </p:spPr>
        <p:txBody>
          <a:bodyPr/>
          <a:lstStyle/>
          <a:p>
            <a:r>
              <a:rPr lang="en-US" dirty="0"/>
              <a:t>Ce model am </a:t>
            </a:r>
            <a:r>
              <a:rPr lang="en-US" dirty="0" err="1"/>
              <a:t>folosit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1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67A-1E5E-1BCB-86EE-4B4EA0D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70932" cy="5253089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(1986):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Feed-Forward Network (MLP).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Aplatizează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vector static.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Reproduce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limitarile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abordării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Rumelhart.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19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B1E5-C127-09CB-44A9-B1CBB1F8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851955" cy="5253089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Bidirecțional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(</a:t>
            </a:r>
            <a:r>
              <a:rPr lang="en-US" sz="2400" dirty="0"/>
              <a:t>128 dim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2400" b="1" dirty="0"/>
              <a:t>Stacked Bi-LSTM</a:t>
            </a:r>
            <a:r>
              <a:rPr lang="sv-SE" sz="2400" dirty="0"/>
              <a:t> (Strat 1: 256, Strat 2: 128):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romana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engleza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2400" dirty="0"/>
              <a:t>0.4 </a:t>
            </a:r>
            <a:r>
              <a:rPr lang="en-US" sz="2400" dirty="0" err="1"/>
              <a:t>și</a:t>
            </a:r>
            <a:r>
              <a:rPr lang="en-US" sz="2400" dirty="0"/>
              <a:t> 0.3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92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85B0-84E0-AE8C-2FB2-38950D6D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764" y="802455"/>
            <a:ext cx="9747782" cy="525308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NVIDIA T4 Tensor Core (16GB VRAM - Free Tier).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VRAM: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 GB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Un </a:t>
            </a:r>
            <a:r>
              <a:rPr lang="en-US" sz="2400" dirty="0" err="1"/>
              <a:t>rezultat</a:t>
            </a:r>
            <a:r>
              <a:rPr lang="en-US" sz="2400" dirty="0"/>
              <a:t> </a:t>
            </a:r>
            <a:r>
              <a:rPr lang="en-US" sz="2400" dirty="0" err="1"/>
              <a:t>surprinzator</a:t>
            </a:r>
            <a:r>
              <a:rPr lang="en-US" sz="2400" dirty="0"/>
              <a:t> a fost </a:t>
            </a:r>
            <a:r>
              <a:rPr lang="en-US" sz="2400" dirty="0" err="1"/>
              <a:t>viteza</a:t>
            </a:r>
            <a:r>
              <a:rPr lang="en-US" sz="2400" dirty="0"/>
              <a:t> de </a:t>
            </a:r>
            <a:r>
              <a:rPr lang="en-US" sz="2400" dirty="0" err="1"/>
              <a:t>invatare</a:t>
            </a:r>
            <a:r>
              <a:rPr lang="en-US" sz="2400" dirty="0"/>
              <a:t>. Desi am avut un set de date mare, de 15.000 de </a:t>
            </a:r>
            <a:r>
              <a:rPr lang="en-US" sz="2400" dirty="0" err="1"/>
              <a:t>exemple</a:t>
            </a:r>
            <a:r>
              <a:rPr lang="en-US" sz="2400" dirty="0"/>
              <a:t>, </a:t>
            </a:r>
            <a:r>
              <a:rPr lang="en-US" sz="2400" dirty="0" err="1"/>
              <a:t>antrenamentul</a:t>
            </a:r>
            <a:r>
              <a:rPr lang="en-US" sz="2400" dirty="0"/>
              <a:t> a </a:t>
            </a:r>
            <a:r>
              <a:rPr lang="en-US" sz="2400" dirty="0" err="1"/>
              <a:t>durat</a:t>
            </a:r>
            <a:r>
              <a:rPr lang="en-US" sz="2400" dirty="0"/>
              <a:t> </a:t>
            </a:r>
            <a:r>
              <a:rPr lang="en-US" sz="2400" b="1" dirty="0"/>
              <a:t>sub 30 de minute</a:t>
            </a:r>
            <a:r>
              <a:rPr lang="en-US" sz="2400" dirty="0"/>
              <a:t>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/>
              <a:t>Modelul</a:t>
            </a:r>
            <a:r>
              <a:rPr lang="en-US" sz="2400" b="1" dirty="0"/>
              <a:t> a '</a:t>
            </a:r>
            <a:r>
              <a:rPr lang="en-US" sz="2400" b="1" dirty="0" err="1"/>
              <a:t>prins'</a:t>
            </a:r>
            <a:r>
              <a:rPr lang="en-US" sz="2400" b="1" dirty="0"/>
              <a:t> </a:t>
            </a:r>
            <a:r>
              <a:rPr lang="en-US" sz="2400" b="1" dirty="0" err="1"/>
              <a:t>logica</a:t>
            </a:r>
            <a:r>
              <a:rPr lang="en-US" sz="2400" b="1" dirty="0"/>
              <a:t> </a:t>
            </a:r>
            <a:r>
              <a:rPr lang="en-US" sz="2400" b="1" dirty="0" err="1"/>
              <a:t>aproape</a:t>
            </a:r>
            <a:r>
              <a:rPr lang="en-US" sz="2400" b="1" dirty="0"/>
              <a:t> </a:t>
            </a:r>
            <a:r>
              <a:rPr lang="en-US" sz="2400" b="1" dirty="0" err="1"/>
              <a:t>instantaneu</a:t>
            </a:r>
            <a:r>
              <a:rPr lang="en-US" sz="2400" b="1" dirty="0"/>
              <a:t>, </a:t>
            </a:r>
            <a:r>
              <a:rPr lang="en-US" sz="2400" b="1" dirty="0" err="1"/>
              <a:t>ajungand</a:t>
            </a:r>
            <a:r>
              <a:rPr lang="en-US" sz="2400" b="1" dirty="0"/>
              <a:t> la </a:t>
            </a:r>
            <a:r>
              <a:rPr lang="en-US" sz="2400" b="1" dirty="0" err="1"/>
              <a:t>performanta</a:t>
            </a:r>
            <a:r>
              <a:rPr lang="en-US" sz="2400" b="1" dirty="0"/>
              <a:t> maxima </a:t>
            </a:r>
            <a:r>
              <a:rPr lang="en-US" sz="2400" b="1" dirty="0" err="1"/>
              <a:t>foarte</a:t>
            </a:r>
            <a:r>
              <a:rPr lang="en-US" sz="2400" b="1" dirty="0"/>
              <a:t> </a:t>
            </a:r>
            <a:r>
              <a:rPr lang="en-US" sz="2400" b="1" dirty="0" err="1"/>
              <a:t>repede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6620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17DE-6C2C-CADA-326A-B8FDB9F8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01484" cy="5253089"/>
          </a:xfrm>
        </p:spPr>
        <p:txBody>
          <a:bodyPr>
            <a:normAutofit fontScale="90000"/>
          </a:bodyPr>
          <a:lstStyle/>
          <a:p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Veche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(MLP):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Aceasta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panou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pentru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Nouă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(LSTM -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Propunerea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noastră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deosebire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LSTM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exact cum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 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plus: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leagă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literele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 LSTM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doua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ține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văzut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prima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știe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'A'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'M'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impreuna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silabă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Aceasta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recunoască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indiferent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propozitie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2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0102-9411-0687-0005-67D63E7F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7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C07F-69BA-41BC-FC24-2E530E1A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620461" cy="5253089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LSTM(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54D0A-3A6B-72C8-6A7C-0EF0D1D6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515510"/>
            <a:ext cx="10336193" cy="42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0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530F-307A-6C89-D57A-021D8E2A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916442" cy="5253089"/>
          </a:xfrm>
        </p:spPr>
        <p:txBody>
          <a:bodyPr>
            <a:normAutofit/>
          </a:bodyPr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acuratetea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(80/20)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training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C79B8-41C1-BECE-9192-597267D2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01" y="1122745"/>
            <a:ext cx="4190034" cy="3159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64F637-0FA6-5825-57F7-C31A3DF07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744" y="1053598"/>
            <a:ext cx="33242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97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F2CA4-6757-389D-3ED3-683A930E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514" y="691835"/>
            <a:ext cx="4784372" cy="5250496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A1553F9-B4AD-78C0-A7F2-729E2059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1885924"/>
            <a:ext cx="56589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obținut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acuratețe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95.50%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 un set de 200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aleatoriu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acesta nu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impresionant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detaliu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obtinut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perfecta la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56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6CA02-A3CA-A6A4-503F-73AE9D71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52" y="328612"/>
            <a:ext cx="5934075" cy="62007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F3481C1-6759-E82B-B79D-56AFAA25E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3377" y="1054930"/>
            <a:ext cx="130633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TOTAL: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97.57%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 1.400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Performan</a:t>
            </a:r>
            <a:r>
              <a:rPr lang="en-US" altLang="en-US" sz="1800" dirty="0" err="1">
                <a:latin typeface="Arial" panose="020B0604020202020204" pitchFamily="34" charset="0"/>
              </a:rPr>
              <a:t>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buna la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Imperfect (98.00%)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Participiu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(95.00%),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demonstrand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stabilitatea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retelei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secvente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lungi.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Namarie</a:t>
            </a:r>
            <a:r>
              <a:rPr lang="en-US" altLang="en-US" sz="1800" dirty="0">
                <a:latin typeface="Arial" panose="020B0604020202020204" pitchFamily="34" charset="0"/>
              </a:rPr>
              <a:t> =&gt; </a:t>
            </a:r>
            <a:r>
              <a:rPr lang="en-US" altLang="en-US" sz="1800" dirty="0" err="1">
                <a:latin typeface="Arial" panose="020B0604020202020204" pitchFamily="34" charset="0"/>
              </a:rPr>
              <a:t>namarieam</a:t>
            </a:r>
            <a:r>
              <a:rPr lang="en-US" altLang="en-US" sz="1800" dirty="0">
                <a:latin typeface="Arial" panose="020B0604020202020204" pitchFamily="34" charset="0"/>
              </a:rPr>
              <a:t> (</a:t>
            </a:r>
            <a:r>
              <a:rPr lang="en-US" altLang="en-US" sz="1800" dirty="0" err="1">
                <a:latin typeface="Arial" panose="020B0604020202020204" pitchFamily="34" charset="0"/>
              </a:rPr>
              <a:t>în</a:t>
            </a:r>
            <a:r>
              <a:rPr lang="en-US" altLang="en-US" sz="1800" dirty="0">
                <a:latin typeface="Arial" panose="020B0604020202020204" pitchFamily="34" charset="0"/>
              </a:rPr>
              <a:t> loc de </a:t>
            </a:r>
            <a:r>
              <a:rPr lang="en-US" altLang="en-US" sz="1800" dirty="0" err="1">
                <a:latin typeface="Arial" panose="020B0604020202020204" pitchFamily="34" charset="0"/>
              </a:rPr>
              <a:t>namariam</a:t>
            </a:r>
            <a:r>
              <a:rPr lang="en-US" altLang="en-US" sz="1800" dirty="0">
                <a:latin typeface="Arial" panose="020B0604020202020204" pitchFamily="34" charset="0"/>
              </a:rPr>
              <a:t>).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Explicație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Modelul</a:t>
            </a:r>
            <a:r>
              <a:rPr lang="en-US" altLang="en-US" sz="1800" dirty="0">
                <a:latin typeface="Arial" panose="020B0604020202020204" pitchFamily="34" charset="0"/>
              </a:rPr>
              <a:t> a </a:t>
            </a:r>
            <a:r>
              <a:rPr lang="en-US" altLang="en-US" sz="1800" dirty="0" err="1">
                <a:latin typeface="Arial" panose="020B0604020202020204" pitchFamily="34" charset="0"/>
              </a:rPr>
              <a:t>păstrat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vocala</a:t>
            </a:r>
            <a:r>
              <a:rPr lang="en-US" altLang="en-US" sz="1800" dirty="0">
                <a:latin typeface="Arial" panose="020B0604020202020204" pitchFamily="34" charset="0"/>
              </a:rPr>
              <a:t> 'e' din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rădăcină</a:t>
            </a:r>
            <a:r>
              <a:rPr lang="en-US" altLang="en-US" sz="1800" dirty="0">
                <a:latin typeface="Arial" panose="020B0604020202020204" pitchFamily="34" charset="0"/>
              </a:rPr>
              <a:t>, o </a:t>
            </a:r>
            <a:r>
              <a:rPr lang="en-US" altLang="en-US" sz="1800" dirty="0" err="1">
                <a:latin typeface="Arial" panose="020B0604020202020204" pitchFamily="34" charset="0"/>
              </a:rPr>
              <a:t>eroare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tipică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dirty="0" err="1">
                <a:latin typeface="Arial" panose="020B0604020202020204" pitchFamily="34" charset="0"/>
              </a:rPr>
              <a:t>regularizare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intalnita</a:t>
            </a:r>
            <a:r>
              <a:rPr lang="en-US" altLang="en-US" sz="1800" dirty="0">
                <a:latin typeface="Arial" panose="020B0604020202020204" pitchFamily="34" charset="0"/>
              </a:rPr>
              <a:t> la </a:t>
            </a:r>
            <a:r>
              <a:rPr lang="en-US" altLang="en-US" sz="1800" dirty="0" err="1">
                <a:latin typeface="Arial" panose="020B0604020202020204" pitchFamily="34" charset="0"/>
              </a:rPr>
              <a:t>copii</a:t>
            </a:r>
            <a:r>
              <a:rPr lang="en-US" altLang="en-US" sz="1800" dirty="0">
                <a:latin typeface="Arial" panose="020B0604020202020204" pitchFamily="34" charset="0"/>
              </a:rPr>
              <a:t> ("U-shaped learning").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878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{55F8611C-A8DE-4218-B3F7-35A4E7142017}TF3977e381-cba5-49b1-ba43-b5d865517af907ebbda9_win32-372d4d6ae720</Template>
  <TotalTime>489</TotalTime>
  <Words>1282</Words>
  <Application>Microsoft Office PowerPoint</Application>
  <PresentationFormat>Widescreen</PresentationFormat>
  <Paragraphs>47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Times New Roman</vt:lpstr>
      <vt:lpstr>Tisa Offc Serif Pro</vt:lpstr>
      <vt:lpstr>Univers Light</vt:lpstr>
      <vt:lpstr>Custom</vt:lpstr>
      <vt:lpstr>Reproducerea experimentului Rumelhart &amp; McClelland din 1986 pentru verbele din limba romaneasca   Autori: Albu Victor, Cristescu  Ciprian </vt:lpstr>
      <vt:lpstr>Ce s-a facut pana acum?   </vt:lpstr>
      <vt:lpstr>Titlu: "On learning the past tenses of English verbs"   Autori: David E. Rumelhart &amp; James L. McClelland  An: 1986   Despre ce e: A fost primul studiu care a demonstrat ca o retea neuronala poate invata conjugari (trecutul verbelor) fara sa i se programeze reguli gramaticale explicite.   A introdus conceptul de "U-shaped learning" (invatare in forma de U: memorare -&gt; greseli de generalizare -&gt; corectare). </vt:lpstr>
      <vt:lpstr>Titlu: "On language and connectionism: Analysis of a parallel  distributed processing model of language acquisition“  Autori: Steven Pinker &amp; Alan Prince An: 1988  Despre ce e: Ei au criticat dur modelul lui Rumelhart.  Au spus că rețeaua face greșeli pe care oamenii nu le fac și că modelul  de intrare ("Wickelfeatures") este o "ciorba" de litere care nu respecta  structura cuvantului.  Noi am rezolvat critica lui Pinker folosind LSTM-uri, care pastreaza  ordinea literelor, spre deosebire de modelul vechi.</vt:lpstr>
      <vt:lpstr>Ce date am folosit?   </vt:lpstr>
      <vt:lpstr>Problema: Lipsa unui set de date (dataset) curat și standardizat pentru perechile  Infinitiv-Trecut în limba română.   Solutia Noastra: Dezvoltarea unui Generator de Date Sintetice în Python.  De ce date sintetice(cuvinte inventate)?  1.Pentru a izola capacitatea rețelei de a invata reguli abstracte.  2.Dacă am folosi doar verbe reale, ar exista riscul ca reteaua sa memoreze pur și simplu cuvintele.  3.Verbele inventate (ex: boganiza) nu există în dicționar, deci singurul mod de a le conjuga este prin  invătarea regulii gramaticale. </vt:lpstr>
      <vt:lpstr>Total Exemple: 15.000 perechi   </vt:lpstr>
      <vt:lpstr>Cum le-am procesat?  Fiecare cuvant este reprezentat de o lista de numere deoarece fiecare litera este indexata.  Lungimea unei astfel de liste va fi de 20. Daca cuvantul este prea mic se va completa lista cu 0 pana la elmentul 20.  Exemplu:  [‘m’, ‘a’, ‘n’, ‘c’, ‘a’] -&gt; [14,  2, 15, 4, 2, 0, 0, …0]</vt:lpstr>
      <vt:lpstr>PowerPoint Presentation</vt:lpstr>
      <vt:lpstr>   Algoritmul de Generare Dataset  Structura:  Am implementat un algoritm care respectă structura silabică a limbii române: C-V (Consoană-Vocală) sau C-C-V (pentru grupuri precum tr, pr, bl).  Selectează aleatoriu o radacina valida (ex: bogan-, snorp-) folosind liste predefinite de consoane și vocale.  Cuvintele nu exista în dictionar, dar sunt pronunțabile (ex: a boganiza).         </vt:lpstr>
      <vt:lpstr>Participiu:  Regulate: Adaugare directa (-at, -it, -ut). Complexe: Alternante fonetice unde sufixul modifică radacina  (ex: terminațiile -ge, -ce, -ne devin -s).  Imperfect:  Am generat paradigma completa (Persoanele 1-6) pentru a invata acordul subiect-predicat.  Modelul trebuie să distinga între sufixele simple (-am) și cele cu diftong (-eam, -iam). </vt:lpstr>
      <vt:lpstr>Ce model am folosit? </vt:lpstr>
      <vt:lpstr>Modelul de Bază (1986):    Feed-Forward Network (MLP).    Aplatizează cuvântul intr-un vector static.  Scop: Reproduce limitarile abordării originale a lui Rumelhart. </vt:lpstr>
      <vt:lpstr>Modelul Propus de noi:   LSTM Bidirecțional.   Arhitectură:  Embedding (128 dim): Reprezentare densă a caracterelor.  Stacked Bi-LSTM (Strat 1: 256, Strat 2: 128): Procesează secvența în ambele sensuri -&gt; este esential deoarece conjugarea in romana este mult mai grea ca cea din engleza.   Dropout (0.4 și 0.3): Previne memorarea mecanică. </vt:lpstr>
      <vt:lpstr>Hardware  Platformă: Google Colab (Cloud).  GPU: NVIDIA T4 Tensor Core (16GB VRAM - Free Tier).  Consum Resurse:  VRAM: &lt; 1 GB utilizat (Model foarte ușor).  Timp Antrenare: Un rezultat surprinzator a fost viteza de invatare. Desi am avut un set de date mare, de 15.000 de exemple, antrenamentul a durat sub 30 de minute.   Modelul a 'prins' logica aproape instantaneu, ajungand la performanta maxima foarte repede</vt:lpstr>
      <vt:lpstr>Metoda Veche (MLP):  Aceasta ia cuvântul și îl lipește pe un panou cu locuri fixe. Rețeaua vede doar o poziție statică.  Dacă un cuvânt este decalat cu o literă, rețeaua nu mai recunoaște tiparul, pentru că nu înțelege ordinea, ci doar poziția fixă.   Metoda Nouă (LSTM - Propunerea noastră):  Spre deosebire de metoda veche, LSTM citește secvențial, literă cu literă, exact cum citim noi.  Dar face ceva în plus: leagă literele intre ele.  Cand LSTM citește a doua literă, el ține minte și ce a văzut la prima literă.  Astfel, el înțelege contextul: știe că litera 'A' a venit după litera 'M' și că impreuna formează o silabă. Aceasta “memorie” îi permite să recunoască radacina verbului indiferent unde se află ea în propozitie." </vt:lpstr>
      <vt:lpstr>Rezultate: </vt:lpstr>
      <vt:lpstr>Modelul LSTM(grafice de invatare)</vt:lpstr>
      <vt:lpstr>  Nu am luat acuratetea pe datele de testare in considerare deoarece modelul imparte cuvintele (80/20) in datasetul de training si datasetul de testare astfel posibil sa existe cuvinte cu aceeasi radacina in ambele parti ceea ce ar permite modelului sa le memoreze.</vt:lpstr>
      <vt:lpstr>Modelul a obținut o acuratețe de 95.50%  pe un set de 200 de verbe complet noi,  generate aleatoriu ceea ce demonstreaza ca acesta nu  memoreaza cuvintele.   Cel mai impresionant detaliu este acela ca modelul  a obtinut acuratete perfecta la testele complexe. </vt:lpstr>
      <vt:lpstr>TOTAL: 97.57% pe 1.400 de exemple noi.   Performanta mai buna la  Imperfect (98.00%) decat la Participiu  (95.00%), demonstrand stabilitatea retelei  pe secvente lungi.    Namarie =&gt; namarieam (în loc de namariam).  Explicație: Modelul a păstrat vocala 'e' din  rădăcină, o eroare tipică de regularizare  intalnita la copii ("U-shaped learning").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</dc:creator>
  <cp:lastModifiedBy>Victor</cp:lastModifiedBy>
  <cp:revision>8</cp:revision>
  <dcterms:created xsi:type="dcterms:W3CDTF">2025-12-11T09:25:52Z</dcterms:created>
  <dcterms:modified xsi:type="dcterms:W3CDTF">2026-01-18T00:28:27Z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